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embeddedFontLst>
    <p:embeddedFont>
      <p:font typeface="Montserrat" pitchFamily="34" charset="0"/>
      <p:regular r:id="rId10"/>
      <p:bold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font" Target="fonts/font1.fntdata"/><Relationship Id="rId1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each step builds on the one before. Level 1, reliable calls: Pydantic output models with extra="forbid"; per-tier timeouts; one retry on the tier’s backup model with the error shown (ADR-14); in-run repair of broken JSON and cut answers (ADR-80); idempotent steps, leases, outbox, retry and dead-letter queues with make dlq-replay (ADR-28, ADR-61). Level 2, cost control: tiers cheap / mid / strong / judge in ai/models/tiers.yaml; each agent is one call and Caseflow (H1) is a state machine, so no open agent loop; tool_call_cap 0 or 1 (ADR-48); token budgets from measured p90 plus 30%; per-case ledger capped at 250k (ADR-50, ADR-81); prompt caching; big inputs split and merged by code (ADR-77, ADR-78). Level 3, the seven guardrails in fixed order (ai/guards/guards.yaml): 1 input scan with 42 injection patterns and Presidio PII masking; 2 OPA tool permits, fail closed; 3 token and time budget; 4 output check (schema, sources resolve, verbatim quotes, number grounding, restricted terms); 5 eight business rules as code; 6 critic on a different model family; 7 human gate. Level 4, humans: 17 product gates (gates register); four outcomes, never automatic; overrides need a 20-character reason; handoff with the agent’s exact inputs (ADR-51); scores only from deterministic code (S2); the product owner never sees scores (ADR-32). Level 5, proof: nine eval datasets, 27 deterministic metrics plus DeepEval judge metrics; promotion gate per agent; first live run 1 of 9 gates, second 8 of 9; replay and mock modes (FCRM_LLM_MODE). Level 6, operations: hash-chained, insert-only audit; examiner answers only from the verified chain; versions pinned per case (ADR-52); OpenTelemetry to OpenObserve, three dashboards (ADR-72); model ids only in tiers.yaml; prompts versioned with a manifest and locks; 7,689 unit tests and 121 policy tests. Built with AI across all six SDLC stages: Claude Code subagents in worktrees under an operator plan; commits carry Stage and Gate trailers (docs/governance/sdlc-evidence.md). If asked about open items: semantic precedent search; AI check on borderline injection scores; prompt version enforced at run time; overrides turned into test cases; ADR-77 to ADR-80 proven by tests, not yet live; eval baseline measured on the 6 Oct model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it: one row per agent, one column per level from the first slide. Level 1: the model each agent runs on and the backup it switches to if a call fails or its answer fails the checks. After the backup, a human takes over the step with the exact inputs. Level 2: the most tokens one call may spend, and how many tool calls it may make (0 or 1). Each case also has a total cap of 250k tokens. Level 3: the agent’s own check on top of the shared guardrails. Screening applies routing rule R4 itself, and the code rule wins. Intake: a value whose quote is not on the cited page is dropped. Research quotes policy word for word from the pinned version. Assessment never writes a score; code computes it. The critic runs on a different model family and only flags. Narrative may not use a number that is not in its inputs. Examiner answers only from the audit chain, or refuses. Watchlist: code picks the cases, the agent only explains why. Policy gap: a suggestion is labelled as advice, never as policy. Level 4: who decides on the agent’s output. Owner or analyst confirms item by item, edits need a reason, the analyst locks the pack before the committee sees it. The examiner changes nothing. The policy gap agent runs only when an analyst notes a gap. Level 6: what stays on record. Every proposal is stored with its input pack, prompt version and the model that answered, and every step writes to the hash-chained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built today, not future scope. How to read it: memory sits in layers that code controls, from the widest (long-term) to the narrowest (this one job). The agent sits in the middle and sees only the small input pack code built for it. The dotted line is the seven guardrails: everything that goes into or comes out of the agent crosses it. Long-term: closed cases go into the precedent index (cores/closing.py); policy, controls and field sets are versioned and pinned per case for life (ADR-47, ADR-52); the audit trail is hash-chained and the examiner answers only from it (ADR-46). This case: the proposal ledger holds every agent output with its status (accepted, overridden, removed); the case run log tracks steps, pending work and gates (ADR-28); the per-case token ledger reserves budget before each job, capped at 250k (ADR-50, ADR-81). This job: each job gets a context pack with fixed sections, size caps, a visible truncation note and a hash (fcrm_agents/context_pack.py); too big, it is split into parts and merged by code (ADR-77, ADR-78). The job message itself is 4 KB or less and carries ids, not content. On failure: H2 stores the job and pack exactly as the model received them (agent_raw_inputs); the analyst completes the step with a reason and the case resumes (ADR-51). On re-run: after the owner answers, H1 sends the changed fields; earlier tool lookups come from the retrieval cache (fcrm_tools/cache.py). If asked: agents cannot write free-form notes, on purpose; turning overrides into test cases is designed but not built; precedent search is keyword, not semantic.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20"/>
            <a:ext cx="10566400" cy="363190"/>
          </a:xfrm>
          <a:prstGeom prst="rect">
            <a:avLst/>
          </a:prstGeom>
          <a:noFill/>
          <a:ln/>
        </p:spPr>
        <p:txBody>
          <a:bodyPr wrap="square" lIns="0" tIns="0" rIns="0" bIns="0" rtlCol="0" anchor="t"/>
          <a:lstStyle>
            <a:lvl1pPr algn="l" indent="0" marL="0">
              <a:lnSpc>
                <a:spcPct val="115000"/>
              </a:lnSpc>
              <a:buNone/>
              <a:defRPr lang="en-US" sz="2600" dirty="0">
                <a:solidFill>
                  <a:srgbClr val="0C2226"/>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592511"/>
            <a:ext cx="10566400" cy="4452689"/>
          </a:xfrm>
          <a:prstGeom prst="rect">
            <a:avLst/>
          </a:prstGeom>
          <a:noFill/>
          <a:ln/>
        </p:spPr>
        <p:txBody>
          <a:bodyPr wrap="square" lIns="0" tIns="0" rIns="0" bIns="0" rtlCol="0" anchor="t"/>
          <a:lstStyle>
            <a:lvl1pPr algn="l" indent="0" marL="0">
              <a:lnSpc>
                <a:spcPct val="140000"/>
              </a:lnSpc>
              <a:buNone/>
              <a:defRPr lang="en-US" sz="1600" dirty="0">
                <a:solidFill>
                  <a:srgbClr val="0C2226"/>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20"/>
            <a:ext cx="10566400" cy="363190"/>
          </a:xfrm>
          <a:prstGeom prst="rect">
            <a:avLst/>
          </a:prstGeom>
          <a:noFill/>
          <a:ln/>
        </p:spPr>
        <p:txBody>
          <a:bodyPr wrap="square" lIns="0" tIns="0" rIns="0" bIns="0" rtlCol="0" anchor="t"/>
          <a:lstStyle>
            <a:lvl1pPr algn="l" indent="0" marL="0">
              <a:lnSpc>
                <a:spcPct val="115000"/>
              </a:lnSpc>
              <a:buNone/>
              <a:defRPr lang="en-US" sz="2600" dirty="0">
                <a:solidFill>
                  <a:srgbClr val="0C2226"/>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592511"/>
            <a:ext cx="10566400" cy="4452689"/>
          </a:xfrm>
          <a:prstGeom prst="rect">
            <a:avLst/>
          </a:prstGeom>
          <a:noFill/>
          <a:ln/>
        </p:spPr>
        <p:txBody>
          <a:bodyPr wrap="square" lIns="0" tIns="0" rIns="0" bIns="0" rtlCol="0" anchor="t"/>
          <a:lstStyle>
            <a:lvl1pPr algn="l" indent="0" marL="0">
              <a:lnSpc>
                <a:spcPct val="140000"/>
              </a:lnSpc>
              <a:buNone/>
              <a:defRPr lang="en-US" sz="1600" dirty="0">
                <a:solidFill>
                  <a:srgbClr val="0C2226"/>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F0"/>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67A67"/>
                </a:solidFill>
                <a:latin typeface="Montserrat" pitchFamily="34" charset="0"/>
                <a:ea typeface="Montserrat" pitchFamily="34" charset="-122"/>
                <a:cs typeface="Montserrat" pitchFamily="34" charset="-120"/>
              </a:rPr>
              <a:t>TRUSTOPS · STATE OF THE AI</a:t>
            </a:r>
            <a:endParaRPr lang="en-US" sz="1200" dirty="0"/>
          </a:p>
        </p:txBody>
      </p:sp>
      <p:sp>
        <p:nvSpPr>
          <p:cNvPr id="3" name="Text 1"/>
          <p:cNvSpPr/>
          <p:nvPr>
            <p:ph type="title"/>
          </p:nvPr>
        </p:nvSpPr>
        <p:spPr>
          <a:xfrm>
            <a:off x="812800" y="9245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C2226"/>
                </a:solidFill>
                <a:latin typeface="Montserrat" pitchFamily="34" charset="0"/>
                <a:ea typeface="Montserrat" pitchFamily="34" charset="-122"/>
                <a:cs typeface="Montserrat" pitchFamily="34" charset="-120"/>
              </a:rPr>
              <a:t>How we built the AI, from basics to production</a:t>
            </a:r>
            <a:endParaRPr lang="en-US" sz="2800" dirty="0"/>
          </a:p>
        </p:txBody>
      </p:sp>
      <p:sp>
        <p:nvSpPr>
          <p:cNvPr id="4" name="Shape 2"/>
          <p:cNvSpPr/>
          <p:nvPr/>
        </p:nvSpPr>
        <p:spPr>
          <a:xfrm>
            <a:off x="812800" y="3225800"/>
            <a:ext cx="1676400" cy="2667000"/>
          </a:xfrm>
          <a:custGeom>
            <a:avLst/>
            <a:gdLst/>
            <a:ahLst/>
            <a:cxnLst/>
            <a:rect l="l" t="t" r="r" b="b"/>
            <a:pathLst>
              <a:path w="1676400" h="2667000">
                <a:moveTo>
                  <a:pt x="101600" y="0"/>
                </a:moveTo>
                <a:lnTo>
                  <a:pt x="1574800" y="0"/>
                </a:lnTo>
                <a:arcTo hR="101600" wR="101600" stAng="16200000" swAng="5400000"/>
                <a:lnTo>
                  <a:pt x="1676400" y="2667000"/>
                </a:lnTo>
                <a:lnTo>
                  <a:pt x="0" y="2667000"/>
                </a:lnTo>
                <a:lnTo>
                  <a:pt x="0" y="101600"/>
                </a:lnTo>
                <a:arcTo hR="101600" wR="101600" stAng="10800000" swAng="5400000"/>
                <a:close/>
              </a:path>
            </a:pathLst>
          </a:custGeom>
          <a:solidFill>
            <a:srgbClr val="E3EFEC"/>
          </a:solidFill>
          <a:ln/>
        </p:spPr>
      </p:sp>
      <p:pic>
        <p:nvPicPr>
          <p:cNvPr id="5" name="Image 0" descr="Wrench">    </p:cNvPr>
          <p:cNvPicPr>
            <a:picLocks noChangeAspect="1"/>
          </p:cNvPicPr>
          <p:nvPr/>
        </p:nvPicPr>
        <p:blipFill>
          <a:blip r:embed="rId1"/>
          <a:srcRect l="0" r="0" t="0" b="0"/>
          <a:stretch/>
        </p:blipFill>
        <p:spPr>
          <a:xfrm>
            <a:off x="939800" y="3378200"/>
            <a:ext cx="304800" cy="304800"/>
          </a:xfrm>
          <a:prstGeom prst="rect">
            <a:avLst/>
          </a:prstGeom>
        </p:spPr>
      </p:pic>
      <p:sp>
        <p:nvSpPr>
          <p:cNvPr id="6" name="Text 3"/>
          <p:cNvSpPr/>
          <p:nvPr/>
        </p:nvSpPr>
        <p:spPr>
          <a:xfrm>
            <a:off x="939800" y="3746500"/>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67A67"/>
                </a:solidFill>
                <a:latin typeface="Montserrat" pitchFamily="34" charset="0"/>
                <a:ea typeface="Montserrat" pitchFamily="34" charset="-122"/>
                <a:cs typeface="Montserrat" pitchFamily="34" charset="-120"/>
              </a:rPr>
              <a:t>Level 1</a:t>
            </a:r>
            <a:endParaRPr lang="en-US" sz="1200" dirty="0"/>
          </a:p>
        </p:txBody>
      </p:sp>
      <p:sp>
        <p:nvSpPr>
          <p:cNvPr id="7" name="Text 4"/>
          <p:cNvSpPr/>
          <p:nvPr/>
        </p:nvSpPr>
        <p:spPr>
          <a:xfrm>
            <a:off x="939800" y="4023320"/>
            <a:ext cx="1473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226"/>
                </a:solidFill>
                <a:latin typeface="Montserrat" pitchFamily="34" charset="0"/>
                <a:ea typeface="Montserrat" pitchFamily="34" charset="-122"/>
                <a:cs typeface="Montserrat" pitchFamily="34" charset="-120"/>
              </a:rPr>
              <a:t>Reliable calls</a:t>
            </a:r>
            <a:endParaRPr lang="en-US" sz="1500" dirty="0"/>
          </a:p>
        </p:txBody>
      </p:sp>
      <p:sp>
        <p:nvSpPr>
          <p:cNvPr id="8" name="Text 5"/>
          <p:cNvSpPr/>
          <p:nvPr/>
        </p:nvSpPr>
        <p:spPr>
          <a:xfrm>
            <a:off x="939800" y="431542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Strict formats</a:t>
            </a:r>
            <a:endParaRPr lang="en-US" sz="1200" dirty="0"/>
          </a:p>
        </p:txBody>
      </p:sp>
      <p:sp>
        <p:nvSpPr>
          <p:cNvPr id="9" name="Text 6"/>
          <p:cNvSpPr/>
          <p:nvPr/>
        </p:nvSpPr>
        <p:spPr>
          <a:xfrm>
            <a:off x="939800" y="45287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Timeouts</a:t>
            </a:r>
            <a:endParaRPr lang="en-US" sz="1200" dirty="0"/>
          </a:p>
        </p:txBody>
      </p:sp>
      <p:sp>
        <p:nvSpPr>
          <p:cNvPr id="10" name="Text 7"/>
          <p:cNvSpPr/>
          <p:nvPr/>
        </p:nvSpPr>
        <p:spPr>
          <a:xfrm>
            <a:off x="939800" y="47420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Retry + backup</a:t>
            </a:r>
            <a:endParaRPr lang="en-US" sz="1200" dirty="0"/>
          </a:p>
        </p:txBody>
      </p:sp>
      <p:sp>
        <p:nvSpPr>
          <p:cNvPr id="11" name="Text 8"/>
          <p:cNvSpPr/>
          <p:nvPr/>
        </p:nvSpPr>
        <p:spPr>
          <a:xfrm>
            <a:off x="939800" y="495538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Answer repair</a:t>
            </a:r>
            <a:endParaRPr lang="en-US" sz="1200" dirty="0"/>
          </a:p>
        </p:txBody>
      </p:sp>
      <p:sp>
        <p:nvSpPr>
          <p:cNvPr id="12" name="Text 9"/>
          <p:cNvSpPr/>
          <p:nvPr/>
        </p:nvSpPr>
        <p:spPr>
          <a:xfrm>
            <a:off x="939800" y="516870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Safe re-runs</a:t>
            </a:r>
            <a:endParaRPr lang="en-US" sz="1200" dirty="0"/>
          </a:p>
        </p:txBody>
      </p:sp>
      <p:sp>
        <p:nvSpPr>
          <p:cNvPr id="13" name="Shape 10"/>
          <p:cNvSpPr/>
          <p:nvPr/>
        </p:nvSpPr>
        <p:spPr>
          <a:xfrm>
            <a:off x="2590800" y="2908300"/>
            <a:ext cx="1676400" cy="2984500"/>
          </a:xfrm>
          <a:custGeom>
            <a:avLst/>
            <a:gdLst/>
            <a:ahLst/>
            <a:cxnLst/>
            <a:rect l="l" t="t" r="r" b="b"/>
            <a:pathLst>
              <a:path w="1676400" h="2984500">
                <a:moveTo>
                  <a:pt x="101600" y="0"/>
                </a:moveTo>
                <a:lnTo>
                  <a:pt x="1574800" y="0"/>
                </a:lnTo>
                <a:arcTo hR="101600" wR="101600" stAng="16200000" swAng="5400000"/>
                <a:lnTo>
                  <a:pt x="1676400" y="2984500"/>
                </a:lnTo>
                <a:lnTo>
                  <a:pt x="0" y="2984500"/>
                </a:lnTo>
                <a:lnTo>
                  <a:pt x="0" y="101600"/>
                </a:lnTo>
                <a:arcTo hR="101600" wR="101600" stAng="10800000" swAng="5400000"/>
                <a:close/>
              </a:path>
            </a:pathLst>
          </a:custGeom>
          <a:solidFill>
            <a:srgbClr val="CFE6E0"/>
          </a:solidFill>
          <a:ln/>
        </p:spPr>
      </p:sp>
      <p:pic>
        <p:nvPicPr>
          <p:cNvPr id="14" name="Image 1" descr="Lightning">    </p:cNvPr>
          <p:cNvPicPr>
            <a:picLocks noChangeAspect="1"/>
          </p:cNvPicPr>
          <p:nvPr/>
        </p:nvPicPr>
        <p:blipFill>
          <a:blip r:embed="rId2"/>
          <a:srcRect l="0" r="0" t="0" b="0"/>
          <a:stretch/>
        </p:blipFill>
        <p:spPr>
          <a:xfrm>
            <a:off x="2717800" y="3060700"/>
            <a:ext cx="304800" cy="304800"/>
          </a:xfrm>
          <a:prstGeom prst="rect">
            <a:avLst/>
          </a:prstGeom>
        </p:spPr>
      </p:pic>
      <p:sp>
        <p:nvSpPr>
          <p:cNvPr id="15" name="Text 11"/>
          <p:cNvSpPr/>
          <p:nvPr/>
        </p:nvSpPr>
        <p:spPr>
          <a:xfrm>
            <a:off x="2717800" y="3429000"/>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67A67"/>
                </a:solidFill>
                <a:latin typeface="Montserrat" pitchFamily="34" charset="0"/>
                <a:ea typeface="Montserrat" pitchFamily="34" charset="-122"/>
                <a:cs typeface="Montserrat" pitchFamily="34" charset="-120"/>
              </a:rPr>
              <a:t>Level 2</a:t>
            </a:r>
            <a:endParaRPr lang="en-US" sz="1200" dirty="0"/>
          </a:p>
        </p:txBody>
      </p:sp>
      <p:sp>
        <p:nvSpPr>
          <p:cNvPr id="16" name="Text 12"/>
          <p:cNvSpPr/>
          <p:nvPr/>
        </p:nvSpPr>
        <p:spPr>
          <a:xfrm>
            <a:off x="2717800" y="3705820"/>
            <a:ext cx="1473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226"/>
                </a:solidFill>
                <a:latin typeface="Montserrat" pitchFamily="34" charset="0"/>
                <a:ea typeface="Montserrat" pitchFamily="34" charset="-122"/>
                <a:cs typeface="Montserrat" pitchFamily="34" charset="-120"/>
              </a:rPr>
              <a:t>Cost control</a:t>
            </a:r>
            <a:endParaRPr lang="en-US" sz="1500" dirty="0"/>
          </a:p>
        </p:txBody>
      </p:sp>
      <p:sp>
        <p:nvSpPr>
          <p:cNvPr id="17" name="Text 13"/>
          <p:cNvSpPr/>
          <p:nvPr/>
        </p:nvSpPr>
        <p:spPr>
          <a:xfrm>
            <a:off x="2717800" y="399792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4 model tiers</a:t>
            </a:r>
            <a:endParaRPr lang="en-US" sz="1200" dirty="0"/>
          </a:p>
        </p:txBody>
      </p:sp>
      <p:sp>
        <p:nvSpPr>
          <p:cNvPr id="18" name="Text 14"/>
          <p:cNvSpPr/>
          <p:nvPr/>
        </p:nvSpPr>
        <p:spPr>
          <a:xfrm>
            <a:off x="2717800" y="42112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One call each</a:t>
            </a:r>
            <a:endParaRPr lang="en-US" sz="1200" dirty="0"/>
          </a:p>
        </p:txBody>
      </p:sp>
      <p:sp>
        <p:nvSpPr>
          <p:cNvPr id="19" name="Text 15"/>
          <p:cNvSpPr/>
          <p:nvPr/>
        </p:nvSpPr>
        <p:spPr>
          <a:xfrm>
            <a:off x="2717800" y="44245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Tool cap 0–1</a:t>
            </a:r>
            <a:endParaRPr lang="en-US" sz="1200" dirty="0"/>
          </a:p>
        </p:txBody>
      </p:sp>
      <p:sp>
        <p:nvSpPr>
          <p:cNvPr id="20" name="Text 16"/>
          <p:cNvSpPr/>
          <p:nvPr/>
        </p:nvSpPr>
        <p:spPr>
          <a:xfrm>
            <a:off x="2717800" y="463788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Token budgets</a:t>
            </a:r>
            <a:endParaRPr lang="en-US" sz="1200" dirty="0"/>
          </a:p>
        </p:txBody>
      </p:sp>
      <p:sp>
        <p:nvSpPr>
          <p:cNvPr id="21" name="Text 17"/>
          <p:cNvSpPr/>
          <p:nvPr/>
        </p:nvSpPr>
        <p:spPr>
          <a:xfrm>
            <a:off x="2717800" y="485120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Case cap 250k</a:t>
            </a:r>
            <a:endParaRPr lang="en-US" sz="1200" dirty="0"/>
          </a:p>
        </p:txBody>
      </p:sp>
      <p:sp>
        <p:nvSpPr>
          <p:cNvPr id="22" name="Text 18"/>
          <p:cNvSpPr/>
          <p:nvPr/>
        </p:nvSpPr>
        <p:spPr>
          <a:xfrm>
            <a:off x="2717800" y="506452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Prompt caching</a:t>
            </a:r>
            <a:endParaRPr lang="en-US" sz="1200" dirty="0"/>
          </a:p>
        </p:txBody>
      </p:sp>
      <p:sp>
        <p:nvSpPr>
          <p:cNvPr id="23" name="Text 19"/>
          <p:cNvSpPr/>
          <p:nvPr/>
        </p:nvSpPr>
        <p:spPr>
          <a:xfrm>
            <a:off x="2717800" y="527784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Input splitting</a:t>
            </a:r>
            <a:endParaRPr lang="en-US" sz="1200" dirty="0"/>
          </a:p>
        </p:txBody>
      </p:sp>
      <p:sp>
        <p:nvSpPr>
          <p:cNvPr id="24" name="Shape 20"/>
          <p:cNvSpPr/>
          <p:nvPr/>
        </p:nvSpPr>
        <p:spPr>
          <a:xfrm>
            <a:off x="4368800" y="2590800"/>
            <a:ext cx="1676400" cy="3302000"/>
          </a:xfrm>
          <a:custGeom>
            <a:avLst/>
            <a:gdLst/>
            <a:ahLst/>
            <a:cxnLst/>
            <a:rect l="l" t="t" r="r" b="b"/>
            <a:pathLst>
              <a:path w="1676400" h="3302000">
                <a:moveTo>
                  <a:pt x="101600" y="0"/>
                </a:moveTo>
                <a:lnTo>
                  <a:pt x="1574800" y="0"/>
                </a:lnTo>
                <a:arcTo hR="101600" wR="101600" stAng="16200000" swAng="5400000"/>
                <a:lnTo>
                  <a:pt x="1676400" y="3302000"/>
                </a:lnTo>
                <a:lnTo>
                  <a:pt x="0" y="3302000"/>
                </a:lnTo>
                <a:lnTo>
                  <a:pt x="0" y="101600"/>
                </a:lnTo>
                <a:arcTo hR="101600" wR="101600" stAng="10800000" swAng="5400000"/>
                <a:close/>
              </a:path>
            </a:pathLst>
          </a:custGeom>
          <a:solidFill>
            <a:srgbClr val="A9D8CC"/>
          </a:solidFill>
          <a:ln/>
        </p:spPr>
      </p:sp>
      <p:pic>
        <p:nvPicPr>
          <p:cNvPr id="25" name="Image 2" descr="Lock">    </p:cNvPr>
          <p:cNvPicPr>
            <a:picLocks noChangeAspect="1"/>
          </p:cNvPicPr>
          <p:nvPr/>
        </p:nvPicPr>
        <p:blipFill>
          <a:blip r:embed="rId3"/>
          <a:srcRect l="0" r="0" t="0" b="0"/>
          <a:stretch/>
        </p:blipFill>
        <p:spPr>
          <a:xfrm>
            <a:off x="4495800" y="2743200"/>
            <a:ext cx="304800" cy="304800"/>
          </a:xfrm>
          <a:prstGeom prst="rect">
            <a:avLst/>
          </a:prstGeom>
        </p:spPr>
      </p:pic>
      <p:sp>
        <p:nvSpPr>
          <p:cNvPr id="26" name="Text 21"/>
          <p:cNvSpPr/>
          <p:nvPr/>
        </p:nvSpPr>
        <p:spPr>
          <a:xfrm>
            <a:off x="4495800" y="3111500"/>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226"/>
                </a:solidFill>
                <a:latin typeface="Montserrat" pitchFamily="34" charset="0"/>
                <a:ea typeface="Montserrat" pitchFamily="34" charset="-122"/>
                <a:cs typeface="Montserrat" pitchFamily="34" charset="-120"/>
              </a:rPr>
              <a:t>Level 3</a:t>
            </a:r>
            <a:endParaRPr lang="en-US" sz="1200" dirty="0"/>
          </a:p>
        </p:txBody>
      </p:sp>
      <p:sp>
        <p:nvSpPr>
          <p:cNvPr id="27" name="Text 22"/>
          <p:cNvSpPr/>
          <p:nvPr/>
        </p:nvSpPr>
        <p:spPr>
          <a:xfrm>
            <a:off x="4495800" y="3388320"/>
            <a:ext cx="1473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226"/>
                </a:solidFill>
                <a:latin typeface="Montserrat" pitchFamily="34" charset="0"/>
                <a:ea typeface="Montserrat" pitchFamily="34" charset="-122"/>
                <a:cs typeface="Montserrat" pitchFamily="34" charset="-120"/>
              </a:rPr>
              <a:t>7 guardrails</a:t>
            </a:r>
            <a:endParaRPr lang="en-US" sz="1500" dirty="0"/>
          </a:p>
        </p:txBody>
      </p:sp>
      <p:sp>
        <p:nvSpPr>
          <p:cNvPr id="28" name="Text 23"/>
          <p:cNvSpPr/>
          <p:nvPr/>
        </p:nvSpPr>
        <p:spPr>
          <a:xfrm>
            <a:off x="4495800" y="368042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1 Input scan</a:t>
            </a:r>
            <a:endParaRPr lang="en-US" sz="1200" dirty="0"/>
          </a:p>
        </p:txBody>
      </p:sp>
      <p:sp>
        <p:nvSpPr>
          <p:cNvPr id="29" name="Text 24"/>
          <p:cNvSpPr/>
          <p:nvPr/>
        </p:nvSpPr>
        <p:spPr>
          <a:xfrm>
            <a:off x="4495800" y="38937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2 Tool permits</a:t>
            </a:r>
            <a:endParaRPr lang="en-US" sz="1200" dirty="0"/>
          </a:p>
        </p:txBody>
      </p:sp>
      <p:sp>
        <p:nvSpPr>
          <p:cNvPr id="30" name="Text 25"/>
          <p:cNvSpPr/>
          <p:nvPr/>
        </p:nvSpPr>
        <p:spPr>
          <a:xfrm>
            <a:off x="4495800" y="41070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3 Budget</a:t>
            </a:r>
            <a:endParaRPr lang="en-US" sz="1200" dirty="0"/>
          </a:p>
        </p:txBody>
      </p:sp>
      <p:sp>
        <p:nvSpPr>
          <p:cNvPr id="31" name="Text 26"/>
          <p:cNvSpPr/>
          <p:nvPr/>
        </p:nvSpPr>
        <p:spPr>
          <a:xfrm>
            <a:off x="4495800" y="432038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4 Output check</a:t>
            </a:r>
            <a:endParaRPr lang="en-US" sz="1200" dirty="0"/>
          </a:p>
        </p:txBody>
      </p:sp>
      <p:sp>
        <p:nvSpPr>
          <p:cNvPr id="32" name="Text 27"/>
          <p:cNvSpPr/>
          <p:nvPr/>
        </p:nvSpPr>
        <p:spPr>
          <a:xfrm>
            <a:off x="4495800" y="453370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5 Rules check</a:t>
            </a:r>
            <a:endParaRPr lang="en-US" sz="1200" dirty="0"/>
          </a:p>
        </p:txBody>
      </p:sp>
      <p:sp>
        <p:nvSpPr>
          <p:cNvPr id="33" name="Text 28"/>
          <p:cNvSpPr/>
          <p:nvPr/>
        </p:nvSpPr>
        <p:spPr>
          <a:xfrm>
            <a:off x="4495800" y="474702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6 Critic model</a:t>
            </a:r>
            <a:endParaRPr lang="en-US" sz="1200" dirty="0"/>
          </a:p>
        </p:txBody>
      </p:sp>
      <p:sp>
        <p:nvSpPr>
          <p:cNvPr id="34" name="Text 29"/>
          <p:cNvSpPr/>
          <p:nvPr/>
        </p:nvSpPr>
        <p:spPr>
          <a:xfrm>
            <a:off x="4495800" y="496034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7 Human gate</a:t>
            </a:r>
            <a:endParaRPr lang="en-US" sz="1200" dirty="0"/>
          </a:p>
        </p:txBody>
      </p:sp>
      <p:sp>
        <p:nvSpPr>
          <p:cNvPr id="35" name="Shape 30"/>
          <p:cNvSpPr/>
          <p:nvPr/>
        </p:nvSpPr>
        <p:spPr>
          <a:xfrm>
            <a:off x="6146800" y="2273300"/>
            <a:ext cx="1676400" cy="3619500"/>
          </a:xfrm>
          <a:custGeom>
            <a:avLst/>
            <a:gdLst/>
            <a:ahLst/>
            <a:cxnLst/>
            <a:rect l="l" t="t" r="r" b="b"/>
            <a:pathLst>
              <a:path w="1676400" h="3619500">
                <a:moveTo>
                  <a:pt x="101600" y="0"/>
                </a:moveTo>
                <a:lnTo>
                  <a:pt x="1574800" y="0"/>
                </a:lnTo>
                <a:arcTo hR="101600" wR="101600" stAng="16200000" swAng="5400000"/>
                <a:lnTo>
                  <a:pt x="1676400" y="3619500"/>
                </a:lnTo>
                <a:lnTo>
                  <a:pt x="0" y="3619500"/>
                </a:lnTo>
                <a:lnTo>
                  <a:pt x="0" y="101600"/>
                </a:lnTo>
                <a:arcTo hR="101600" wR="101600" stAng="10800000" swAng="5400000"/>
                <a:close/>
              </a:path>
            </a:pathLst>
          </a:custGeom>
          <a:solidFill>
            <a:srgbClr val="09A78D"/>
          </a:solidFill>
          <a:ln/>
        </p:spPr>
      </p:sp>
      <p:pic>
        <p:nvPicPr>
          <p:cNvPr id="36" name="Image 3" descr="Users">    </p:cNvPr>
          <p:cNvPicPr>
            <a:picLocks noChangeAspect="1"/>
          </p:cNvPicPr>
          <p:nvPr/>
        </p:nvPicPr>
        <p:blipFill>
          <a:blip r:embed="rId4"/>
          <a:srcRect l="0" r="0" t="0" b="0"/>
          <a:stretch/>
        </p:blipFill>
        <p:spPr>
          <a:xfrm>
            <a:off x="6273800" y="2425700"/>
            <a:ext cx="304800" cy="304800"/>
          </a:xfrm>
          <a:prstGeom prst="rect">
            <a:avLst/>
          </a:prstGeom>
        </p:spPr>
      </p:pic>
      <p:sp>
        <p:nvSpPr>
          <p:cNvPr id="37" name="Text 31"/>
          <p:cNvSpPr/>
          <p:nvPr/>
        </p:nvSpPr>
        <p:spPr>
          <a:xfrm>
            <a:off x="6273800" y="2794000"/>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226"/>
                </a:solidFill>
                <a:latin typeface="Montserrat" pitchFamily="34" charset="0"/>
                <a:ea typeface="Montserrat" pitchFamily="34" charset="-122"/>
                <a:cs typeface="Montserrat" pitchFamily="34" charset="-120"/>
              </a:rPr>
              <a:t>Level 4</a:t>
            </a:r>
            <a:endParaRPr lang="en-US" sz="1200" dirty="0"/>
          </a:p>
        </p:txBody>
      </p:sp>
      <p:sp>
        <p:nvSpPr>
          <p:cNvPr id="38" name="Text 32"/>
          <p:cNvSpPr/>
          <p:nvPr/>
        </p:nvSpPr>
        <p:spPr>
          <a:xfrm>
            <a:off x="6273800" y="3070820"/>
            <a:ext cx="14732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226"/>
                </a:solidFill>
                <a:latin typeface="Montserrat" pitchFamily="34" charset="0"/>
                <a:ea typeface="Montserrat" pitchFamily="34" charset="-122"/>
                <a:cs typeface="Montserrat" pitchFamily="34" charset="-120"/>
              </a:rPr>
              <a:t>Humans in charge</a:t>
            </a:r>
            <a:endParaRPr lang="en-US" sz="1500" dirty="0"/>
          </a:p>
        </p:txBody>
      </p:sp>
      <p:sp>
        <p:nvSpPr>
          <p:cNvPr id="39" name="Text 33"/>
          <p:cNvSpPr/>
          <p:nvPr/>
        </p:nvSpPr>
        <p:spPr>
          <a:xfrm>
            <a:off x="6273800" y="359152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No auto-approve</a:t>
            </a:r>
            <a:endParaRPr lang="en-US" sz="1200" dirty="0"/>
          </a:p>
        </p:txBody>
      </p:sp>
      <p:sp>
        <p:nvSpPr>
          <p:cNvPr id="40" name="Text 34"/>
          <p:cNvSpPr/>
          <p:nvPr/>
        </p:nvSpPr>
        <p:spPr>
          <a:xfrm>
            <a:off x="6273800" y="38048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17 human gates</a:t>
            </a:r>
            <a:endParaRPr lang="en-US" sz="1200" dirty="0"/>
          </a:p>
        </p:txBody>
      </p:sp>
      <p:sp>
        <p:nvSpPr>
          <p:cNvPr id="41" name="Text 35"/>
          <p:cNvSpPr/>
          <p:nvPr/>
        </p:nvSpPr>
        <p:spPr>
          <a:xfrm>
            <a:off x="6273800" y="40181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Reasons needed</a:t>
            </a:r>
            <a:endParaRPr lang="en-US" sz="1200" dirty="0"/>
          </a:p>
        </p:txBody>
      </p:sp>
      <p:sp>
        <p:nvSpPr>
          <p:cNvPr id="42" name="Text 36"/>
          <p:cNvSpPr/>
          <p:nvPr/>
        </p:nvSpPr>
        <p:spPr>
          <a:xfrm>
            <a:off x="6273800" y="423148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Analyst handoff</a:t>
            </a:r>
            <a:endParaRPr lang="en-US" sz="1200" dirty="0"/>
          </a:p>
        </p:txBody>
      </p:sp>
      <p:sp>
        <p:nvSpPr>
          <p:cNvPr id="43" name="Text 37"/>
          <p:cNvSpPr/>
          <p:nvPr/>
        </p:nvSpPr>
        <p:spPr>
          <a:xfrm>
            <a:off x="6273800" y="444480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Scores by code</a:t>
            </a:r>
            <a:endParaRPr lang="en-US" sz="1200" dirty="0"/>
          </a:p>
        </p:txBody>
      </p:sp>
      <p:sp>
        <p:nvSpPr>
          <p:cNvPr id="44" name="Shape 38"/>
          <p:cNvSpPr/>
          <p:nvPr/>
        </p:nvSpPr>
        <p:spPr>
          <a:xfrm>
            <a:off x="7924800" y="1955800"/>
            <a:ext cx="1676400" cy="3937000"/>
          </a:xfrm>
          <a:custGeom>
            <a:avLst/>
            <a:gdLst/>
            <a:ahLst/>
            <a:cxnLst/>
            <a:rect l="l" t="t" r="r" b="b"/>
            <a:pathLst>
              <a:path w="1676400" h="3937000">
                <a:moveTo>
                  <a:pt x="101600" y="0"/>
                </a:moveTo>
                <a:lnTo>
                  <a:pt x="1574800" y="0"/>
                </a:lnTo>
                <a:arcTo hR="101600" wR="101600" stAng="16200000" swAng="5400000"/>
                <a:lnTo>
                  <a:pt x="1676400" y="3937000"/>
                </a:lnTo>
                <a:lnTo>
                  <a:pt x="0" y="3937000"/>
                </a:lnTo>
                <a:lnTo>
                  <a:pt x="0" y="101600"/>
                </a:lnTo>
                <a:arcTo hR="101600" wR="101600" stAng="10800000" swAng="5400000"/>
                <a:close/>
              </a:path>
            </a:pathLst>
          </a:custGeom>
          <a:solidFill>
            <a:srgbClr val="145B55"/>
          </a:solidFill>
          <a:ln/>
        </p:spPr>
      </p:sp>
      <p:pic>
        <p:nvPicPr>
          <p:cNvPr id="45" name="Image 4" descr="Verified">    </p:cNvPr>
          <p:cNvPicPr>
            <a:picLocks noChangeAspect="1"/>
          </p:cNvPicPr>
          <p:nvPr/>
        </p:nvPicPr>
        <p:blipFill>
          <a:blip r:embed="rId5"/>
          <a:srcRect l="0" r="0" t="0" b="0"/>
          <a:stretch/>
        </p:blipFill>
        <p:spPr>
          <a:xfrm>
            <a:off x="8051800" y="2108200"/>
            <a:ext cx="304800" cy="304800"/>
          </a:xfrm>
          <a:prstGeom prst="rect">
            <a:avLst/>
          </a:prstGeom>
        </p:spPr>
      </p:pic>
      <p:sp>
        <p:nvSpPr>
          <p:cNvPr id="46" name="Text 39"/>
          <p:cNvSpPr/>
          <p:nvPr/>
        </p:nvSpPr>
        <p:spPr>
          <a:xfrm>
            <a:off x="8051800" y="2476500"/>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2E081"/>
                </a:solidFill>
                <a:latin typeface="Montserrat" pitchFamily="34" charset="0"/>
                <a:ea typeface="Montserrat" pitchFamily="34" charset="-122"/>
                <a:cs typeface="Montserrat" pitchFamily="34" charset="-120"/>
              </a:rPr>
              <a:t>Level 5</a:t>
            </a:r>
            <a:endParaRPr lang="en-US" sz="1200" dirty="0"/>
          </a:p>
        </p:txBody>
      </p:sp>
      <p:sp>
        <p:nvSpPr>
          <p:cNvPr id="47" name="Text 40"/>
          <p:cNvSpPr/>
          <p:nvPr/>
        </p:nvSpPr>
        <p:spPr>
          <a:xfrm>
            <a:off x="8051800" y="2753320"/>
            <a:ext cx="1549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3F0"/>
                </a:solidFill>
                <a:latin typeface="Montserrat" pitchFamily="34" charset="0"/>
                <a:ea typeface="Montserrat" pitchFamily="34" charset="-122"/>
                <a:cs typeface="Montserrat" pitchFamily="34" charset="-120"/>
              </a:rPr>
              <a:t>Proof it works</a:t>
            </a:r>
            <a:endParaRPr lang="en-US" sz="1500" dirty="0"/>
          </a:p>
        </p:txBody>
      </p:sp>
      <p:sp>
        <p:nvSpPr>
          <p:cNvPr id="48" name="Text 41"/>
          <p:cNvSpPr/>
          <p:nvPr/>
        </p:nvSpPr>
        <p:spPr>
          <a:xfrm>
            <a:off x="8051800" y="304542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9 test sets</a:t>
            </a:r>
            <a:endParaRPr lang="en-US" sz="1200" dirty="0"/>
          </a:p>
        </p:txBody>
      </p:sp>
      <p:sp>
        <p:nvSpPr>
          <p:cNvPr id="49" name="Text 42"/>
          <p:cNvSpPr/>
          <p:nvPr/>
        </p:nvSpPr>
        <p:spPr>
          <a:xfrm>
            <a:off x="8051800" y="32587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27 code checks</a:t>
            </a:r>
            <a:endParaRPr lang="en-US" sz="1200" dirty="0"/>
          </a:p>
        </p:txBody>
      </p:sp>
      <p:sp>
        <p:nvSpPr>
          <p:cNvPr id="50" name="Text 43"/>
          <p:cNvSpPr/>
          <p:nvPr/>
        </p:nvSpPr>
        <p:spPr>
          <a:xfrm>
            <a:off x="8051800" y="34720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AI judge</a:t>
            </a:r>
            <a:endParaRPr lang="en-US" sz="1200" dirty="0"/>
          </a:p>
        </p:txBody>
      </p:sp>
      <p:sp>
        <p:nvSpPr>
          <p:cNvPr id="51" name="Text 44"/>
          <p:cNvSpPr/>
          <p:nvPr/>
        </p:nvSpPr>
        <p:spPr>
          <a:xfrm>
            <a:off x="8051800" y="368538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8/9 gates pass</a:t>
            </a:r>
            <a:endParaRPr lang="en-US" sz="1200" dirty="0"/>
          </a:p>
        </p:txBody>
      </p:sp>
      <p:sp>
        <p:nvSpPr>
          <p:cNvPr id="52" name="Text 45"/>
          <p:cNvSpPr/>
          <p:nvPr/>
        </p:nvSpPr>
        <p:spPr>
          <a:xfrm>
            <a:off x="8051800" y="389870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Gated prompts</a:t>
            </a:r>
            <a:endParaRPr lang="en-US" sz="1200" dirty="0"/>
          </a:p>
        </p:txBody>
      </p:sp>
      <p:sp>
        <p:nvSpPr>
          <p:cNvPr id="53" name="Text 46"/>
          <p:cNvSpPr/>
          <p:nvPr/>
        </p:nvSpPr>
        <p:spPr>
          <a:xfrm>
            <a:off x="8051800" y="411202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Offline replay</a:t>
            </a:r>
            <a:endParaRPr lang="en-US" sz="1200" dirty="0"/>
          </a:p>
        </p:txBody>
      </p:sp>
      <p:sp>
        <p:nvSpPr>
          <p:cNvPr id="54" name="Shape 47"/>
          <p:cNvSpPr/>
          <p:nvPr/>
        </p:nvSpPr>
        <p:spPr>
          <a:xfrm>
            <a:off x="9702800" y="1638300"/>
            <a:ext cx="1676400" cy="4254500"/>
          </a:xfrm>
          <a:custGeom>
            <a:avLst/>
            <a:gdLst/>
            <a:ahLst/>
            <a:cxnLst/>
            <a:rect l="l" t="t" r="r" b="b"/>
            <a:pathLst>
              <a:path w="1676400" h="4254500">
                <a:moveTo>
                  <a:pt x="101600" y="0"/>
                </a:moveTo>
                <a:lnTo>
                  <a:pt x="1574800" y="0"/>
                </a:lnTo>
                <a:arcTo hR="101600" wR="101600" stAng="16200000" swAng="5400000"/>
                <a:lnTo>
                  <a:pt x="1676400" y="4254500"/>
                </a:lnTo>
                <a:lnTo>
                  <a:pt x="0" y="4254500"/>
                </a:lnTo>
                <a:lnTo>
                  <a:pt x="0" y="101600"/>
                </a:lnTo>
                <a:arcTo hR="101600" wR="101600" stAng="10800000" swAng="5400000"/>
                <a:close/>
              </a:path>
            </a:pathLst>
          </a:custGeom>
          <a:solidFill>
            <a:srgbClr val="0C2226"/>
          </a:solidFill>
          <a:ln/>
        </p:spPr>
      </p:sp>
      <p:pic>
        <p:nvPicPr>
          <p:cNvPr id="55" name="Image 5" descr="Activity">    </p:cNvPr>
          <p:cNvPicPr>
            <a:picLocks noChangeAspect="1"/>
          </p:cNvPicPr>
          <p:nvPr/>
        </p:nvPicPr>
        <p:blipFill>
          <a:blip r:embed="rId6"/>
          <a:srcRect l="0" r="0" t="0" b="0"/>
          <a:stretch/>
        </p:blipFill>
        <p:spPr>
          <a:xfrm>
            <a:off x="9829800" y="1790700"/>
            <a:ext cx="304800" cy="304800"/>
          </a:xfrm>
          <a:prstGeom prst="rect">
            <a:avLst/>
          </a:prstGeom>
        </p:spPr>
      </p:pic>
      <p:sp>
        <p:nvSpPr>
          <p:cNvPr id="56" name="Text 48"/>
          <p:cNvSpPr/>
          <p:nvPr/>
        </p:nvSpPr>
        <p:spPr>
          <a:xfrm>
            <a:off x="9829800" y="2159000"/>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2E081"/>
                </a:solidFill>
                <a:latin typeface="Montserrat" pitchFamily="34" charset="0"/>
                <a:ea typeface="Montserrat" pitchFamily="34" charset="-122"/>
                <a:cs typeface="Montserrat" pitchFamily="34" charset="-120"/>
              </a:rPr>
              <a:t>Level 6</a:t>
            </a:r>
            <a:endParaRPr lang="en-US" sz="1200" dirty="0"/>
          </a:p>
        </p:txBody>
      </p:sp>
      <p:sp>
        <p:nvSpPr>
          <p:cNvPr id="57" name="Text 49"/>
          <p:cNvSpPr/>
          <p:nvPr/>
        </p:nvSpPr>
        <p:spPr>
          <a:xfrm>
            <a:off x="9829800" y="2435820"/>
            <a:ext cx="1549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3F0"/>
                </a:solidFill>
                <a:latin typeface="Montserrat" pitchFamily="34" charset="0"/>
                <a:ea typeface="Montserrat" pitchFamily="34" charset="-122"/>
                <a:cs typeface="Montserrat" pitchFamily="34" charset="-120"/>
              </a:rPr>
              <a:t>Audit and ops</a:t>
            </a:r>
            <a:endParaRPr lang="en-US" sz="1500" dirty="0"/>
          </a:p>
        </p:txBody>
      </p:sp>
      <p:sp>
        <p:nvSpPr>
          <p:cNvPr id="58" name="Text 50"/>
          <p:cNvSpPr/>
          <p:nvPr/>
        </p:nvSpPr>
        <p:spPr>
          <a:xfrm>
            <a:off x="9829800" y="272792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Chained audit</a:t>
            </a:r>
            <a:endParaRPr lang="en-US" sz="1200" dirty="0"/>
          </a:p>
        </p:txBody>
      </p:sp>
      <p:sp>
        <p:nvSpPr>
          <p:cNvPr id="59" name="Text 51"/>
          <p:cNvSpPr/>
          <p:nvPr/>
        </p:nvSpPr>
        <p:spPr>
          <a:xfrm>
            <a:off x="9829800" y="29412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Pinned versions</a:t>
            </a:r>
            <a:endParaRPr lang="en-US" sz="1200" dirty="0"/>
          </a:p>
        </p:txBody>
      </p:sp>
      <p:sp>
        <p:nvSpPr>
          <p:cNvPr id="60" name="Text 52"/>
          <p:cNvSpPr/>
          <p:nvPr/>
        </p:nvSpPr>
        <p:spPr>
          <a:xfrm>
            <a:off x="9829800" y="31545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Live dashboards</a:t>
            </a:r>
            <a:endParaRPr lang="en-US" sz="1200" dirty="0"/>
          </a:p>
        </p:txBody>
      </p:sp>
      <p:sp>
        <p:nvSpPr>
          <p:cNvPr id="61" name="Text 53"/>
          <p:cNvSpPr/>
          <p:nvPr/>
        </p:nvSpPr>
        <p:spPr>
          <a:xfrm>
            <a:off x="9829800" y="336788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Cost tracking</a:t>
            </a:r>
            <a:endParaRPr lang="en-US" sz="1200" dirty="0"/>
          </a:p>
        </p:txBody>
      </p:sp>
      <p:sp>
        <p:nvSpPr>
          <p:cNvPr id="62" name="Text 54"/>
          <p:cNvSpPr/>
          <p:nvPr/>
        </p:nvSpPr>
        <p:spPr>
          <a:xfrm>
            <a:off x="9829800" y="358120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Model registry</a:t>
            </a:r>
            <a:endParaRPr lang="en-US" sz="1200" dirty="0"/>
          </a:p>
        </p:txBody>
      </p:sp>
      <p:sp>
        <p:nvSpPr>
          <p:cNvPr id="63" name="Text 55"/>
          <p:cNvSpPr/>
          <p:nvPr/>
        </p:nvSpPr>
        <p:spPr>
          <a:xfrm>
            <a:off x="9829800" y="3794522"/>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7,800+ tests</a:t>
            </a:r>
            <a:endParaRPr lang="en-US" sz="1200" dirty="0"/>
          </a:p>
        </p:txBody>
      </p:sp>
      <p:sp>
        <p:nvSpPr>
          <p:cNvPr id="64" name="Text 56"/>
          <p:cNvSpPr/>
          <p:nvPr/>
        </p:nvSpPr>
        <p:spPr>
          <a:xfrm>
            <a:off x="812800" y="1600200"/>
            <a:ext cx="77192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C2226"/>
                </a:solidFill>
                <a:latin typeface="Montserrat" pitchFamily="34" charset="0"/>
                <a:ea typeface="Montserrat" pitchFamily="34" charset="-122"/>
                <a:cs typeface="Montserrat" pitchFamily="34" charset="-120"/>
              </a:rPr>
              <a:t>9</a:t>
            </a:r>
            <a:endParaRPr lang="en-US" sz="4400" dirty="0"/>
          </a:p>
        </p:txBody>
      </p:sp>
      <p:sp>
        <p:nvSpPr>
          <p:cNvPr id="65" name="Text 57"/>
          <p:cNvSpPr/>
          <p:nvPr/>
        </p:nvSpPr>
        <p:spPr>
          <a:xfrm>
            <a:off x="812800" y="2159000"/>
            <a:ext cx="8653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C70"/>
                </a:solidFill>
                <a:latin typeface="Montserrat" pitchFamily="34" charset="0"/>
                <a:ea typeface="Montserrat" pitchFamily="34" charset="-122"/>
                <a:cs typeface="Montserrat" pitchFamily="34" charset="-120"/>
              </a:rPr>
              <a:t>AI agents</a:t>
            </a:r>
            <a:endParaRPr lang="en-US" sz="1200" dirty="0"/>
          </a:p>
        </p:txBody>
      </p:sp>
      <p:sp>
        <p:nvSpPr>
          <p:cNvPr id="66" name="Text 58"/>
          <p:cNvSpPr/>
          <p:nvPr/>
        </p:nvSpPr>
        <p:spPr>
          <a:xfrm>
            <a:off x="1838722" y="1600200"/>
            <a:ext cx="81160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C2226"/>
                </a:solidFill>
                <a:latin typeface="Montserrat" pitchFamily="34" charset="0"/>
                <a:ea typeface="Montserrat" pitchFamily="34" charset="-122"/>
                <a:cs typeface="Montserrat" pitchFamily="34" charset="-120"/>
              </a:rPr>
              <a:t>7</a:t>
            </a:r>
            <a:endParaRPr lang="en-US" sz="4400" dirty="0"/>
          </a:p>
        </p:txBody>
      </p:sp>
      <p:sp>
        <p:nvSpPr>
          <p:cNvPr id="67" name="Text 59"/>
          <p:cNvSpPr/>
          <p:nvPr/>
        </p:nvSpPr>
        <p:spPr>
          <a:xfrm>
            <a:off x="1838722" y="2159000"/>
            <a:ext cx="9129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C70"/>
                </a:solidFill>
                <a:latin typeface="Montserrat" pitchFamily="34" charset="0"/>
                <a:ea typeface="Montserrat" pitchFamily="34" charset="-122"/>
                <a:cs typeface="Montserrat" pitchFamily="34" charset="-120"/>
              </a:rPr>
              <a:t>guardrails</a:t>
            </a:r>
            <a:endParaRPr lang="en-US" sz="1200" dirty="0"/>
          </a:p>
        </p:txBody>
      </p:sp>
      <p:sp>
        <p:nvSpPr>
          <p:cNvPr id="68" name="Text 60"/>
          <p:cNvSpPr/>
          <p:nvPr/>
        </p:nvSpPr>
        <p:spPr>
          <a:xfrm>
            <a:off x="2904331" y="1600200"/>
            <a:ext cx="107081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C2226"/>
                </a:solidFill>
                <a:latin typeface="Montserrat" pitchFamily="34" charset="0"/>
                <a:ea typeface="Montserrat" pitchFamily="34" charset="-122"/>
                <a:cs typeface="Montserrat" pitchFamily="34" charset="-120"/>
              </a:rPr>
              <a:t>17</a:t>
            </a:r>
            <a:endParaRPr lang="en-US" sz="4400" dirty="0"/>
          </a:p>
        </p:txBody>
      </p:sp>
      <p:sp>
        <p:nvSpPr>
          <p:cNvPr id="69" name="Text 61"/>
          <p:cNvSpPr/>
          <p:nvPr/>
        </p:nvSpPr>
        <p:spPr>
          <a:xfrm>
            <a:off x="2904331" y="2159000"/>
            <a:ext cx="12240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C70"/>
                </a:solidFill>
                <a:latin typeface="Montserrat" pitchFamily="34" charset="0"/>
                <a:ea typeface="Montserrat" pitchFamily="34" charset="-122"/>
                <a:cs typeface="Montserrat" pitchFamily="34" charset="-120"/>
              </a:rPr>
              <a:t>human gates</a:t>
            </a:r>
            <a:endParaRPr lang="en-US" sz="1200" dirty="0"/>
          </a:p>
        </p:txBody>
      </p:sp>
      <p:sp>
        <p:nvSpPr>
          <p:cNvPr id="70" name="Text 62"/>
          <p:cNvSpPr/>
          <p:nvPr/>
        </p:nvSpPr>
        <p:spPr>
          <a:xfrm>
            <a:off x="4229150" y="1600200"/>
            <a:ext cx="13300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67A67"/>
                </a:solidFill>
                <a:latin typeface="Montserrat" pitchFamily="34" charset="0"/>
                <a:ea typeface="Montserrat" pitchFamily="34" charset="-122"/>
                <a:cs typeface="Montserrat" pitchFamily="34" charset="-120"/>
              </a:rPr>
              <a:t>0</a:t>
            </a:r>
            <a:endParaRPr lang="en-US" sz="4400" dirty="0"/>
          </a:p>
        </p:txBody>
      </p:sp>
      <p:sp>
        <p:nvSpPr>
          <p:cNvPr id="71" name="Text 63"/>
          <p:cNvSpPr/>
          <p:nvPr/>
        </p:nvSpPr>
        <p:spPr>
          <a:xfrm>
            <a:off x="4229150" y="2159000"/>
            <a:ext cx="15350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C70"/>
                </a:solidFill>
                <a:latin typeface="Montserrat" pitchFamily="34" charset="0"/>
                <a:ea typeface="Montserrat" pitchFamily="34" charset="-122"/>
                <a:cs typeface="Montserrat" pitchFamily="34" charset="-120"/>
              </a:rPr>
              <a:t>AI-written scores</a:t>
            </a:r>
            <a:endParaRPr lang="en-US" sz="1200" dirty="0"/>
          </a:p>
        </p:txBody>
      </p:sp>
      <p:sp>
        <p:nvSpPr>
          <p:cNvPr id="72" name="Text 64"/>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6C70"/>
                </a:solidFill>
                <a:latin typeface="Montserrat" pitchFamily="34" charset="0"/>
                <a:ea typeface="Montserrat" pitchFamily="34" charset="-122"/>
                <a:cs typeface="Montserrat" pitchFamily="34" charset="-120"/>
              </a:rPr>
              <a:t>Basics</a:t>
            </a:r>
            <a:endParaRPr lang="en-US" sz="1200" dirty="0"/>
          </a:p>
        </p:txBody>
      </p:sp>
      <p:sp>
        <p:nvSpPr>
          <p:cNvPr id="73" name="Text 65"/>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C2226"/>
                </a:solidFill>
                <a:latin typeface="Montserrat" pitchFamily="34" charset="0"/>
                <a:ea typeface="Montserrat" pitchFamily="34" charset="-122"/>
                <a:cs typeface="Montserrat" pitchFamily="34" charset="-120"/>
              </a:rPr>
              <a:t>Production-ready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F0"/>
        </a:solidFill>
      </p:bgPr>
    </p:bg>
    <p:spTree>
      <p:nvGrpSpPr>
        <p:cNvPr id="1" name=""/>
        <p:cNvGrpSpPr/>
        <p:nvPr/>
      </p:nvGrpSpPr>
      <p:grpSpPr>
        <a:xfrm>
          <a:off x="0" y="0"/>
          <a:ext cx="0" cy="0"/>
          <a:chOff x="0" y="0"/>
          <a:chExt cx="0" cy="0"/>
        </a:xfrm>
      </p:grpSpPr>
      <p:sp>
        <p:nvSpPr>
          <p:cNvPr id="2" name="Text 0"/>
          <p:cNvSpPr/>
          <p:nvPr/>
        </p:nvSpPr>
        <p:spPr>
          <a:xfrm>
            <a:off x="812800" y="457200"/>
            <a:ext cx="10883392" cy="23862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67A67"/>
                </a:solidFill>
                <a:latin typeface="Montserrat" pitchFamily="34" charset="0"/>
                <a:ea typeface="Montserrat" pitchFamily="34" charset="-122"/>
                <a:cs typeface="Montserrat" pitchFamily="34" charset="-120"/>
              </a:rPr>
              <a:t>TRUSTOPS · THE NINE AI AGENTS</a:t>
            </a:r>
            <a:endParaRPr lang="en-US" sz="1200" dirty="0"/>
          </a:p>
        </p:txBody>
      </p:sp>
      <p:sp>
        <p:nvSpPr>
          <p:cNvPr id="3" name="Text 1"/>
          <p:cNvSpPr/>
          <p:nvPr>
            <p:ph type="title"/>
          </p:nvPr>
        </p:nvSpPr>
        <p:spPr>
          <a:xfrm>
            <a:off x="812800" y="797421"/>
            <a:ext cx="10883392" cy="360561"/>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0C2226"/>
                </a:solidFill>
                <a:latin typeface="Montserrat" pitchFamily="34" charset="0"/>
                <a:ea typeface="Montserrat" pitchFamily="34" charset="-122"/>
                <a:cs typeface="Montserrat" pitchFamily="34" charset="-120"/>
              </a:rPr>
              <a:t>Nine agents, and how each one is kept in check</a:t>
            </a:r>
            <a:endParaRPr lang="en-US" sz="2400" dirty="0"/>
          </a:p>
        </p:txBody>
      </p:sp>
      <p:sp>
        <p:nvSpPr>
          <p:cNvPr id="4" name="Text 2"/>
          <p:cNvSpPr/>
          <p:nvPr/>
        </p:nvSpPr>
        <p:spPr>
          <a:xfrm>
            <a:off x="889000" y="1284883"/>
            <a:ext cx="1805178" cy="39112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Agent</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what it does</a:t>
            </a:r>
            <a:endParaRPr lang="en-US" sz="1200" dirty="0"/>
          </a:p>
        </p:txBody>
      </p:sp>
      <p:sp>
        <p:nvSpPr>
          <p:cNvPr id="5" name="Text 3"/>
          <p:cNvSpPr/>
          <p:nvPr/>
        </p:nvSpPr>
        <p:spPr>
          <a:xfrm>
            <a:off x="2844800" y="1284883"/>
            <a:ext cx="1579860"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67A67"/>
                </a:solidFill>
                <a:latin typeface="Montserrat" pitchFamily="34" charset="0"/>
                <a:ea typeface="Montserrat" pitchFamily="34" charset="-122"/>
                <a:cs typeface="Montserrat" pitchFamily="34" charset="-120"/>
              </a:rPr>
              <a:t>Level 1</a:t>
            </a:r>
            <a:endParaRPr lang="en-US" sz="1200" dirty="0"/>
          </a:p>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Model → backup</a:t>
            </a:r>
            <a:endParaRPr lang="en-US" sz="1200" dirty="0"/>
          </a:p>
        </p:txBody>
      </p:sp>
      <p:sp>
        <p:nvSpPr>
          <p:cNvPr id="6" name="Text 4"/>
          <p:cNvSpPr/>
          <p:nvPr/>
        </p:nvSpPr>
        <p:spPr>
          <a:xfrm>
            <a:off x="4577060" y="1284883"/>
            <a:ext cx="1579860"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67A67"/>
                </a:solidFill>
                <a:latin typeface="Montserrat" pitchFamily="34" charset="0"/>
                <a:ea typeface="Montserrat" pitchFamily="34" charset="-122"/>
                <a:cs typeface="Montserrat" pitchFamily="34" charset="-120"/>
              </a:rPr>
              <a:t>Level 2</a:t>
            </a:r>
            <a:endParaRPr lang="en-US" sz="1200" dirty="0"/>
          </a:p>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Budget per call</a:t>
            </a:r>
            <a:endParaRPr lang="en-US" sz="1200" dirty="0"/>
          </a:p>
        </p:txBody>
      </p:sp>
      <p:sp>
        <p:nvSpPr>
          <p:cNvPr id="7" name="Text 5"/>
          <p:cNvSpPr/>
          <p:nvPr/>
        </p:nvSpPr>
        <p:spPr>
          <a:xfrm>
            <a:off x="6309320" y="1284883"/>
            <a:ext cx="1579910"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67A67"/>
                </a:solidFill>
                <a:latin typeface="Montserrat" pitchFamily="34" charset="0"/>
                <a:ea typeface="Montserrat" pitchFamily="34" charset="-122"/>
                <a:cs typeface="Montserrat" pitchFamily="34" charset="-120"/>
              </a:rPr>
              <a:t>Level 3</a:t>
            </a:r>
            <a:endParaRPr lang="en-US" sz="1200" dirty="0"/>
          </a:p>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Extra check</a:t>
            </a:r>
            <a:endParaRPr lang="en-US" sz="1200" dirty="0"/>
          </a:p>
        </p:txBody>
      </p:sp>
      <p:sp>
        <p:nvSpPr>
          <p:cNvPr id="8" name="Text 6"/>
          <p:cNvSpPr/>
          <p:nvPr/>
        </p:nvSpPr>
        <p:spPr>
          <a:xfrm>
            <a:off x="8041630" y="1284883"/>
            <a:ext cx="1579860"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67A67"/>
                </a:solidFill>
                <a:latin typeface="Montserrat" pitchFamily="34" charset="0"/>
                <a:ea typeface="Montserrat" pitchFamily="34" charset="-122"/>
                <a:cs typeface="Montserrat" pitchFamily="34" charset="-120"/>
              </a:rPr>
              <a:t>Level 4</a:t>
            </a:r>
            <a:endParaRPr lang="en-US" sz="1200" dirty="0"/>
          </a:p>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Human decides</a:t>
            </a:r>
            <a:endParaRPr lang="en-US" sz="1200" dirty="0"/>
          </a:p>
        </p:txBody>
      </p:sp>
      <p:sp>
        <p:nvSpPr>
          <p:cNvPr id="9" name="Text 7"/>
          <p:cNvSpPr/>
          <p:nvPr/>
        </p:nvSpPr>
        <p:spPr>
          <a:xfrm>
            <a:off x="9773890" y="1284883"/>
            <a:ext cx="1579860" cy="39112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67A67"/>
                </a:solidFill>
                <a:latin typeface="Montserrat" pitchFamily="34" charset="0"/>
                <a:ea typeface="Montserrat" pitchFamily="34" charset="-122"/>
                <a:cs typeface="Montserrat" pitchFamily="34" charset="-120"/>
              </a:rPr>
              <a:t>Level 6</a:t>
            </a:r>
            <a:endParaRPr lang="en-US" sz="1200" dirty="0"/>
          </a:p>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Kept on record</a:t>
            </a:r>
            <a:endParaRPr lang="en-US" sz="1200" dirty="0"/>
          </a:p>
        </p:txBody>
      </p:sp>
      <p:sp>
        <p:nvSpPr>
          <p:cNvPr id="10" name="Text 8"/>
          <p:cNvSpPr/>
          <p:nvPr/>
        </p:nvSpPr>
        <p:spPr>
          <a:xfrm>
            <a:off x="815975" y="1729780"/>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Screening</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Short-path check</a:t>
            </a:r>
            <a:endParaRPr lang="en-US" sz="1200" dirty="0"/>
          </a:p>
        </p:txBody>
      </p:sp>
      <p:sp>
        <p:nvSpPr>
          <p:cNvPr id="11" name="Text 9"/>
          <p:cNvSpPr/>
          <p:nvPr/>
        </p:nvSpPr>
        <p:spPr>
          <a:xfrm>
            <a:off x="2768600" y="1732955"/>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Haiku 4.5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Nova Lite</a:t>
            </a:r>
            <a:endParaRPr lang="en-US" sz="1200" dirty="0"/>
          </a:p>
        </p:txBody>
      </p:sp>
      <p:sp>
        <p:nvSpPr>
          <p:cNvPr id="12" name="Text 10"/>
          <p:cNvSpPr/>
          <p:nvPr/>
        </p:nvSpPr>
        <p:spPr>
          <a:xfrm>
            <a:off x="4500860" y="1732955"/>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15k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no tool calls</a:t>
            </a:r>
            <a:endParaRPr lang="en-US" sz="1200" dirty="0"/>
          </a:p>
        </p:txBody>
      </p:sp>
      <p:sp>
        <p:nvSpPr>
          <p:cNvPr id="13" name="Text 11"/>
          <p:cNvSpPr/>
          <p:nvPr/>
        </p:nvSpPr>
        <p:spPr>
          <a:xfrm>
            <a:off x="6233120" y="1732955"/>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R4 rule veto</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code rule wins</a:t>
            </a:r>
            <a:endParaRPr lang="en-US" sz="1200" dirty="0"/>
          </a:p>
        </p:txBody>
      </p:sp>
      <p:sp>
        <p:nvSpPr>
          <p:cNvPr id="14" name="Text 12"/>
          <p:cNvSpPr/>
          <p:nvPr/>
        </p:nvSpPr>
        <p:spPr>
          <a:xfrm>
            <a:off x="7965430" y="1732955"/>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Analyst</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OKs fast lane</a:t>
            </a:r>
            <a:endParaRPr lang="en-US" sz="1200" dirty="0"/>
          </a:p>
        </p:txBody>
      </p:sp>
      <p:sp>
        <p:nvSpPr>
          <p:cNvPr id="15" name="Text 13"/>
          <p:cNvSpPr/>
          <p:nvPr/>
        </p:nvSpPr>
        <p:spPr>
          <a:xfrm>
            <a:off x="9697690" y="1732955"/>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Fast-lane call</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16" name="Text 14"/>
          <p:cNvSpPr/>
          <p:nvPr/>
        </p:nvSpPr>
        <p:spPr>
          <a:xfrm>
            <a:off x="815975" y="2209602"/>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Intake</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Reads documents</a:t>
            </a:r>
            <a:endParaRPr lang="en-US" sz="1200" dirty="0"/>
          </a:p>
        </p:txBody>
      </p:sp>
      <p:sp>
        <p:nvSpPr>
          <p:cNvPr id="17" name="Text 15"/>
          <p:cNvSpPr/>
          <p:nvPr/>
        </p:nvSpPr>
        <p:spPr>
          <a:xfrm>
            <a:off x="2768600" y="2212777"/>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Haiku 4.5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Nova Lite</a:t>
            </a:r>
            <a:endParaRPr lang="en-US" sz="1200" dirty="0"/>
          </a:p>
        </p:txBody>
      </p:sp>
      <p:sp>
        <p:nvSpPr>
          <p:cNvPr id="18" name="Text 16"/>
          <p:cNvSpPr/>
          <p:nvPr/>
        </p:nvSpPr>
        <p:spPr>
          <a:xfrm>
            <a:off x="4500860" y="2212777"/>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15k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no tool calls</a:t>
            </a:r>
            <a:endParaRPr lang="en-US" sz="1200" dirty="0"/>
          </a:p>
        </p:txBody>
      </p:sp>
      <p:sp>
        <p:nvSpPr>
          <p:cNvPr id="19" name="Text 17"/>
          <p:cNvSpPr/>
          <p:nvPr/>
        </p:nvSpPr>
        <p:spPr>
          <a:xfrm>
            <a:off x="6233120" y="2212777"/>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Quote on page</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or value dropped</a:t>
            </a:r>
            <a:endParaRPr lang="en-US" sz="1200" dirty="0"/>
          </a:p>
        </p:txBody>
      </p:sp>
      <p:sp>
        <p:nvSpPr>
          <p:cNvPr id="20" name="Text 18"/>
          <p:cNvSpPr/>
          <p:nvPr/>
        </p:nvSpPr>
        <p:spPr>
          <a:xfrm>
            <a:off x="7965430" y="2212777"/>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Owner</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OKs each value</a:t>
            </a:r>
            <a:endParaRPr lang="en-US" sz="1200" dirty="0"/>
          </a:p>
        </p:txBody>
      </p:sp>
      <p:sp>
        <p:nvSpPr>
          <p:cNvPr id="21" name="Text 19"/>
          <p:cNvSpPr/>
          <p:nvPr/>
        </p:nvSpPr>
        <p:spPr>
          <a:xfrm>
            <a:off x="9697690" y="2212777"/>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Each value</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22" name="Text 20"/>
          <p:cNvSpPr/>
          <p:nvPr/>
        </p:nvSpPr>
        <p:spPr>
          <a:xfrm>
            <a:off x="815975" y="2689423"/>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Research</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Finds policy</a:t>
            </a:r>
            <a:endParaRPr lang="en-US" sz="1200" dirty="0"/>
          </a:p>
        </p:txBody>
      </p:sp>
      <p:sp>
        <p:nvSpPr>
          <p:cNvPr id="23" name="Text 21"/>
          <p:cNvSpPr/>
          <p:nvPr/>
        </p:nvSpPr>
        <p:spPr>
          <a:xfrm>
            <a:off x="2768600" y="2692598"/>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Sonnet 5.5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Sonnet → Nova</a:t>
            </a:r>
            <a:endParaRPr lang="en-US" sz="1200" dirty="0"/>
          </a:p>
        </p:txBody>
      </p:sp>
      <p:sp>
        <p:nvSpPr>
          <p:cNvPr id="24" name="Text 22"/>
          <p:cNvSpPr/>
          <p:nvPr/>
        </p:nvSpPr>
        <p:spPr>
          <a:xfrm>
            <a:off x="4500860" y="2692598"/>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56k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1 tool call</a:t>
            </a:r>
            <a:endParaRPr lang="en-US" sz="1200" dirty="0"/>
          </a:p>
        </p:txBody>
      </p:sp>
      <p:sp>
        <p:nvSpPr>
          <p:cNvPr id="25" name="Text 23"/>
          <p:cNvSpPr/>
          <p:nvPr/>
        </p:nvSpPr>
        <p:spPr>
          <a:xfrm>
            <a:off x="6233120" y="2692598"/>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Word-for-word</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policy quotes</a:t>
            </a:r>
            <a:endParaRPr lang="en-US" sz="1200" dirty="0"/>
          </a:p>
        </p:txBody>
      </p:sp>
      <p:sp>
        <p:nvSpPr>
          <p:cNvPr id="26" name="Text 24"/>
          <p:cNvSpPr/>
          <p:nvPr/>
        </p:nvSpPr>
        <p:spPr>
          <a:xfrm>
            <a:off x="7965430" y="2692598"/>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Analyst</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reviews clauses</a:t>
            </a:r>
            <a:endParaRPr lang="en-US" sz="1200" dirty="0"/>
          </a:p>
        </p:txBody>
      </p:sp>
      <p:sp>
        <p:nvSpPr>
          <p:cNvPr id="27" name="Text 25"/>
          <p:cNvSpPr/>
          <p:nvPr/>
        </p:nvSpPr>
        <p:spPr>
          <a:xfrm>
            <a:off x="9697690" y="2692598"/>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Each clause</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28" name="Text 26"/>
          <p:cNvSpPr/>
          <p:nvPr/>
        </p:nvSpPr>
        <p:spPr>
          <a:xfrm>
            <a:off x="815975" y="3169245"/>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Assessment</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Rates the risk</a:t>
            </a:r>
            <a:endParaRPr lang="en-US" sz="1200" dirty="0"/>
          </a:p>
        </p:txBody>
      </p:sp>
      <p:sp>
        <p:nvSpPr>
          <p:cNvPr id="29" name="Text 27"/>
          <p:cNvSpPr/>
          <p:nvPr/>
        </p:nvSpPr>
        <p:spPr>
          <a:xfrm>
            <a:off x="2768600" y="3172420"/>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Sonnet 5.5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Sonnet → Nova</a:t>
            </a:r>
            <a:endParaRPr lang="en-US" sz="1200" dirty="0"/>
          </a:p>
        </p:txBody>
      </p:sp>
      <p:sp>
        <p:nvSpPr>
          <p:cNvPr id="30" name="Text 28"/>
          <p:cNvSpPr/>
          <p:nvPr/>
        </p:nvSpPr>
        <p:spPr>
          <a:xfrm>
            <a:off x="4500860" y="3172420"/>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56k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1 tool call</a:t>
            </a:r>
            <a:endParaRPr lang="en-US" sz="1200" dirty="0"/>
          </a:p>
        </p:txBody>
      </p:sp>
      <p:sp>
        <p:nvSpPr>
          <p:cNvPr id="31" name="Text 29"/>
          <p:cNvSpPr/>
          <p:nvPr/>
        </p:nvSpPr>
        <p:spPr>
          <a:xfrm>
            <a:off x="6233120" y="3172420"/>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Never scores</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ratings only</a:t>
            </a:r>
            <a:endParaRPr lang="en-US" sz="1200" dirty="0"/>
          </a:p>
        </p:txBody>
      </p:sp>
      <p:sp>
        <p:nvSpPr>
          <p:cNvPr id="32" name="Text 30"/>
          <p:cNvSpPr/>
          <p:nvPr/>
        </p:nvSpPr>
        <p:spPr>
          <a:xfrm>
            <a:off x="7965430" y="3172420"/>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Analyst</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edits with reason</a:t>
            </a:r>
            <a:endParaRPr lang="en-US" sz="1200" dirty="0"/>
          </a:p>
        </p:txBody>
      </p:sp>
      <p:sp>
        <p:nvSpPr>
          <p:cNvPr id="33" name="Text 31"/>
          <p:cNvSpPr/>
          <p:nvPr/>
        </p:nvSpPr>
        <p:spPr>
          <a:xfrm>
            <a:off x="9697690" y="3172420"/>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Each rating</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34" name="Text 32"/>
          <p:cNvSpPr/>
          <p:nvPr/>
        </p:nvSpPr>
        <p:spPr>
          <a:xfrm>
            <a:off x="815975" y="3649067"/>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Critic</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Second opinion</a:t>
            </a:r>
            <a:endParaRPr lang="en-US" sz="1200" dirty="0"/>
          </a:p>
        </p:txBody>
      </p:sp>
      <p:sp>
        <p:nvSpPr>
          <p:cNvPr id="35" name="Text 33"/>
          <p:cNvSpPr/>
          <p:nvPr/>
        </p:nvSpPr>
        <p:spPr>
          <a:xfrm>
            <a:off x="2768600" y="3652242"/>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Nova Pro</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Haiku 4.5</a:t>
            </a:r>
            <a:endParaRPr lang="en-US" sz="1200" dirty="0"/>
          </a:p>
        </p:txBody>
      </p:sp>
      <p:sp>
        <p:nvSpPr>
          <p:cNvPr id="36" name="Text 34"/>
          <p:cNvSpPr/>
          <p:nvPr/>
        </p:nvSpPr>
        <p:spPr>
          <a:xfrm>
            <a:off x="4500860" y="3652242"/>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28k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1 tool call</a:t>
            </a:r>
            <a:endParaRPr lang="en-US" sz="1200" dirty="0"/>
          </a:p>
        </p:txBody>
      </p:sp>
      <p:sp>
        <p:nvSpPr>
          <p:cNvPr id="37" name="Text 35"/>
          <p:cNvSpPr/>
          <p:nvPr/>
        </p:nvSpPr>
        <p:spPr>
          <a:xfrm>
            <a:off x="6233120" y="3652242"/>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Other model</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flags, no edits</a:t>
            </a:r>
            <a:endParaRPr lang="en-US" sz="1200" dirty="0"/>
          </a:p>
        </p:txBody>
      </p:sp>
      <p:sp>
        <p:nvSpPr>
          <p:cNvPr id="38" name="Text 36"/>
          <p:cNvSpPr/>
          <p:nvPr/>
        </p:nvSpPr>
        <p:spPr>
          <a:xfrm>
            <a:off x="7965430" y="3652242"/>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Analyst</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answers each flag</a:t>
            </a:r>
            <a:endParaRPr lang="en-US" sz="1200" dirty="0"/>
          </a:p>
        </p:txBody>
      </p:sp>
      <p:sp>
        <p:nvSpPr>
          <p:cNvPr id="39" name="Text 37"/>
          <p:cNvSpPr/>
          <p:nvPr/>
        </p:nvSpPr>
        <p:spPr>
          <a:xfrm>
            <a:off x="9697690" y="3652242"/>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Each finding</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40" name="Text 38"/>
          <p:cNvSpPr/>
          <p:nvPr/>
        </p:nvSpPr>
        <p:spPr>
          <a:xfrm>
            <a:off x="815975" y="4128889"/>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Narrative</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Writes summaries</a:t>
            </a:r>
            <a:endParaRPr lang="en-US" sz="1200" dirty="0"/>
          </a:p>
        </p:txBody>
      </p:sp>
      <p:sp>
        <p:nvSpPr>
          <p:cNvPr id="41" name="Text 39"/>
          <p:cNvSpPr/>
          <p:nvPr/>
        </p:nvSpPr>
        <p:spPr>
          <a:xfrm>
            <a:off x="2768600" y="4132064"/>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Sonnet 5.5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Haiku 4.5</a:t>
            </a:r>
            <a:endParaRPr lang="en-US" sz="1200" dirty="0"/>
          </a:p>
        </p:txBody>
      </p:sp>
      <p:sp>
        <p:nvSpPr>
          <p:cNvPr id="42" name="Text 40"/>
          <p:cNvSpPr/>
          <p:nvPr/>
        </p:nvSpPr>
        <p:spPr>
          <a:xfrm>
            <a:off x="4500860" y="4132064"/>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15k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1 tool call</a:t>
            </a:r>
            <a:endParaRPr lang="en-US" sz="1200" dirty="0"/>
          </a:p>
        </p:txBody>
      </p:sp>
      <p:sp>
        <p:nvSpPr>
          <p:cNvPr id="43" name="Text 41"/>
          <p:cNvSpPr/>
          <p:nvPr/>
        </p:nvSpPr>
        <p:spPr>
          <a:xfrm>
            <a:off x="6233120" y="4132064"/>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Number check</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no new numbers</a:t>
            </a:r>
            <a:endParaRPr lang="en-US" sz="1200" dirty="0"/>
          </a:p>
        </p:txBody>
      </p:sp>
      <p:sp>
        <p:nvSpPr>
          <p:cNvPr id="44" name="Text 42"/>
          <p:cNvSpPr/>
          <p:nvPr/>
        </p:nvSpPr>
        <p:spPr>
          <a:xfrm>
            <a:off x="7965430" y="4132064"/>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Analyst</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locks the pack</a:t>
            </a:r>
            <a:endParaRPr lang="en-US" sz="1200" dirty="0"/>
          </a:p>
        </p:txBody>
      </p:sp>
      <p:sp>
        <p:nvSpPr>
          <p:cNvPr id="45" name="Text 43"/>
          <p:cNvSpPr/>
          <p:nvPr/>
        </p:nvSpPr>
        <p:spPr>
          <a:xfrm>
            <a:off x="9697690" y="4132064"/>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Draft + edits</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46" name="Text 44"/>
          <p:cNvSpPr/>
          <p:nvPr/>
        </p:nvSpPr>
        <p:spPr>
          <a:xfrm>
            <a:off x="815975" y="4608711"/>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Examiner</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Answers auditors</a:t>
            </a:r>
            <a:endParaRPr lang="en-US" sz="1200" dirty="0"/>
          </a:p>
        </p:txBody>
      </p:sp>
      <p:sp>
        <p:nvSpPr>
          <p:cNvPr id="47" name="Text 45"/>
          <p:cNvSpPr/>
          <p:nvPr/>
        </p:nvSpPr>
        <p:spPr>
          <a:xfrm>
            <a:off x="2768600" y="4611886"/>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Sonnet 5.5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Haiku 4.5</a:t>
            </a:r>
            <a:endParaRPr lang="en-US" sz="1200" dirty="0"/>
          </a:p>
        </p:txBody>
      </p:sp>
      <p:sp>
        <p:nvSpPr>
          <p:cNvPr id="48" name="Text 46"/>
          <p:cNvSpPr/>
          <p:nvPr/>
        </p:nvSpPr>
        <p:spPr>
          <a:xfrm>
            <a:off x="4500860" y="4611886"/>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15k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no tool calls</a:t>
            </a:r>
            <a:endParaRPr lang="en-US" sz="1200" dirty="0"/>
          </a:p>
        </p:txBody>
      </p:sp>
      <p:sp>
        <p:nvSpPr>
          <p:cNvPr id="49" name="Text 47"/>
          <p:cNvSpPr/>
          <p:nvPr/>
        </p:nvSpPr>
        <p:spPr>
          <a:xfrm>
            <a:off x="6233120" y="4611886"/>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Audit-only</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or it refuses</a:t>
            </a:r>
            <a:endParaRPr lang="en-US" sz="1200" dirty="0"/>
          </a:p>
        </p:txBody>
      </p:sp>
      <p:sp>
        <p:nvSpPr>
          <p:cNvPr id="50" name="Text 48"/>
          <p:cNvSpPr/>
          <p:nvPr/>
        </p:nvSpPr>
        <p:spPr>
          <a:xfrm>
            <a:off x="7965430" y="4611886"/>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No decision</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answers only</a:t>
            </a:r>
            <a:endParaRPr lang="en-US" sz="1200" dirty="0"/>
          </a:p>
        </p:txBody>
      </p:sp>
      <p:sp>
        <p:nvSpPr>
          <p:cNvPr id="51" name="Text 49"/>
          <p:cNvSpPr/>
          <p:nvPr/>
        </p:nvSpPr>
        <p:spPr>
          <a:xfrm>
            <a:off x="9697690" y="4611886"/>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Each answer</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52" name="Text 50"/>
          <p:cNvSpPr/>
          <p:nvPr/>
        </p:nvSpPr>
        <p:spPr>
          <a:xfrm>
            <a:off x="815975" y="5088582"/>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Watchlist</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Watches risk lists</a:t>
            </a:r>
            <a:endParaRPr lang="en-US" sz="1200" dirty="0"/>
          </a:p>
        </p:txBody>
      </p:sp>
      <p:sp>
        <p:nvSpPr>
          <p:cNvPr id="53" name="Text 51"/>
          <p:cNvSpPr/>
          <p:nvPr/>
        </p:nvSpPr>
        <p:spPr>
          <a:xfrm>
            <a:off x="2768600" y="5091708"/>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Haiku 4.5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Nova Lite</a:t>
            </a:r>
            <a:endParaRPr lang="en-US" sz="1200" dirty="0"/>
          </a:p>
        </p:txBody>
      </p:sp>
      <p:sp>
        <p:nvSpPr>
          <p:cNvPr id="54" name="Text 52"/>
          <p:cNvSpPr/>
          <p:nvPr/>
        </p:nvSpPr>
        <p:spPr>
          <a:xfrm>
            <a:off x="4500860" y="5091708"/>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15k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no tool calls</a:t>
            </a:r>
            <a:endParaRPr lang="en-US" sz="1200" dirty="0"/>
          </a:p>
        </p:txBody>
      </p:sp>
      <p:sp>
        <p:nvSpPr>
          <p:cNvPr id="55" name="Text 53"/>
          <p:cNvSpPr/>
          <p:nvPr/>
        </p:nvSpPr>
        <p:spPr>
          <a:xfrm>
            <a:off x="6233120" y="5091708"/>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Code picks</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agent explains</a:t>
            </a:r>
            <a:endParaRPr lang="en-US" sz="1200" dirty="0"/>
          </a:p>
        </p:txBody>
      </p:sp>
      <p:sp>
        <p:nvSpPr>
          <p:cNvPr id="56" name="Text 54"/>
          <p:cNvSpPr/>
          <p:nvPr/>
        </p:nvSpPr>
        <p:spPr>
          <a:xfrm>
            <a:off x="7965430" y="5091708"/>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Analyst</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acks each flag</a:t>
            </a:r>
            <a:endParaRPr lang="en-US" sz="1200" dirty="0"/>
          </a:p>
        </p:txBody>
      </p:sp>
      <p:sp>
        <p:nvSpPr>
          <p:cNvPr id="57" name="Text 55"/>
          <p:cNvSpPr/>
          <p:nvPr/>
        </p:nvSpPr>
        <p:spPr>
          <a:xfrm>
            <a:off x="9697690" y="5091708"/>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Each re-flag</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58" name="Text 56"/>
          <p:cNvSpPr/>
          <p:nvPr/>
        </p:nvSpPr>
        <p:spPr>
          <a:xfrm>
            <a:off x="815975" y="5568454"/>
            <a:ext cx="1898650" cy="422870"/>
          </a:xfrm>
          <a:prstGeom prst="roundRect">
            <a:avLst>
              <a:gd name="adj" fmla="val 17269"/>
            </a:avLst>
          </a:prstGeom>
          <a:solidFill>
            <a:srgbClr val="FBFAF8"/>
          </a:solidFill>
          <a:ln w="6350">
            <a:solidFill>
              <a:srgbClr val="E2DDD6"/>
            </a:solidFill>
            <a:prstDash val="solid"/>
          </a:ln>
        </p:spPr>
        <p:txBody>
          <a:bodyPr wrap="square" lIns="57987" tIns="7187" rIns="5790"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Policy gap</a:t>
            </a:r>
            <a:endParaRPr lang="en-US" sz="1200" dirty="0"/>
          </a:p>
          <a:p>
            <a:pPr algn="l" indent="0" marL="0">
              <a:lnSpc>
                <a:spcPts val="1440"/>
              </a:lnSpc>
              <a:buNone/>
            </a:pPr>
            <a:r>
              <a:rPr lang="en-US" sz="1200" dirty="0">
                <a:solidFill>
                  <a:srgbClr val="4A6C70"/>
                </a:solidFill>
                <a:latin typeface="Montserrat" pitchFamily="34" charset="0"/>
                <a:ea typeface="Montserrat" pitchFamily="34" charset="-122"/>
                <a:cs typeface="Montserrat" pitchFamily="34" charset="-120"/>
              </a:rPr>
              <a:t>Spots policy gaps</a:t>
            </a:r>
            <a:endParaRPr lang="en-US" sz="1200" dirty="0"/>
          </a:p>
        </p:txBody>
      </p:sp>
      <p:sp>
        <p:nvSpPr>
          <p:cNvPr id="59" name="Text 57"/>
          <p:cNvSpPr/>
          <p:nvPr/>
        </p:nvSpPr>
        <p:spPr>
          <a:xfrm>
            <a:off x="2768600" y="5571579"/>
            <a:ext cx="1681460" cy="416520"/>
          </a:xfrm>
          <a:prstGeom prst="roundRect">
            <a:avLst>
              <a:gd name="adj" fmla="val 18294"/>
            </a:avLst>
          </a:prstGeom>
          <a:solidFill>
            <a:srgbClr val="E3EFE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Sonnet 5.5</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 Haiku 4.5</a:t>
            </a:r>
            <a:endParaRPr lang="en-US" sz="1200" dirty="0"/>
          </a:p>
        </p:txBody>
      </p:sp>
      <p:sp>
        <p:nvSpPr>
          <p:cNvPr id="60" name="Text 58"/>
          <p:cNvSpPr/>
          <p:nvPr/>
        </p:nvSpPr>
        <p:spPr>
          <a:xfrm>
            <a:off x="4500860" y="5571579"/>
            <a:ext cx="1681460" cy="416520"/>
          </a:xfrm>
          <a:prstGeom prst="roundRect">
            <a:avLst>
              <a:gd name="adj" fmla="val 18294"/>
            </a:avLst>
          </a:prstGeom>
          <a:solidFill>
            <a:srgbClr val="CFE6E0"/>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15k tokens</a:t>
            </a:r>
            <a:endParaRPr lang="en-US" sz="1200" dirty="0"/>
          </a:p>
          <a:p>
            <a:pPr algn="l" indent="0" marL="0">
              <a:lnSpc>
                <a:spcPts val="1440"/>
              </a:lnSpc>
              <a:buNone/>
            </a:pPr>
            <a:r>
              <a:rPr lang="en-US" sz="1200" dirty="0">
                <a:solidFill>
                  <a:srgbClr val="33484B"/>
                </a:solidFill>
                <a:latin typeface="Montserrat" pitchFamily="34" charset="0"/>
                <a:ea typeface="Montserrat" pitchFamily="34" charset="-122"/>
                <a:cs typeface="Montserrat" pitchFamily="34" charset="-120"/>
              </a:rPr>
              <a:t>1 tool call</a:t>
            </a:r>
            <a:endParaRPr lang="en-US" sz="1200" dirty="0"/>
          </a:p>
        </p:txBody>
      </p:sp>
      <p:sp>
        <p:nvSpPr>
          <p:cNvPr id="61" name="Text 59"/>
          <p:cNvSpPr/>
          <p:nvPr/>
        </p:nvSpPr>
        <p:spPr>
          <a:xfrm>
            <a:off x="6233120" y="5571579"/>
            <a:ext cx="1681510" cy="416520"/>
          </a:xfrm>
          <a:prstGeom prst="roundRect">
            <a:avLst>
              <a:gd name="adj" fmla="val 18294"/>
            </a:avLst>
          </a:prstGeom>
          <a:solidFill>
            <a:srgbClr val="A9D8CC"/>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Advice only</a:t>
            </a:r>
            <a:endParaRPr lang="en-US" sz="1200" dirty="0"/>
          </a:p>
          <a:p>
            <a:pPr algn="l" indent="0" marL="0">
              <a:lnSpc>
                <a:spcPts val="1440"/>
              </a:lnSpc>
              <a:buNone/>
            </a:pPr>
            <a:r>
              <a:rPr lang="en-US" sz="1200" dirty="0">
                <a:solidFill>
                  <a:srgbClr val="1F3A3E"/>
                </a:solidFill>
                <a:latin typeface="Montserrat" pitchFamily="34" charset="0"/>
                <a:ea typeface="Montserrat" pitchFamily="34" charset="-122"/>
                <a:cs typeface="Montserrat" pitchFamily="34" charset="-120"/>
              </a:rPr>
              <a:t>not policy text</a:t>
            </a:r>
            <a:endParaRPr lang="en-US" sz="1200" dirty="0"/>
          </a:p>
        </p:txBody>
      </p:sp>
      <p:sp>
        <p:nvSpPr>
          <p:cNvPr id="62" name="Text 60"/>
          <p:cNvSpPr/>
          <p:nvPr/>
        </p:nvSpPr>
        <p:spPr>
          <a:xfrm>
            <a:off x="7965430" y="5571579"/>
            <a:ext cx="1681460" cy="416520"/>
          </a:xfrm>
          <a:prstGeom prst="roundRect">
            <a:avLst>
              <a:gd name="adj" fmla="val 18294"/>
            </a:avLst>
          </a:prstGeom>
          <a:solidFill>
            <a:srgbClr val="09A78D"/>
          </a:solidFill>
          <a:ln/>
        </p:spPr>
        <p:txBody>
          <a:bodyPr wrap="square" lIns="53882" tIns="3082" rIns="3082" bIns="0" rtlCol="0" anchor="t">
            <a:normAutofit/>
          </a:bodyPr>
          <a:lstStyle/>
          <a:p>
            <a:pPr algn="l" indent="0" marL="0">
              <a:lnSpc>
                <a:spcPts val="1440"/>
              </a:lnSpc>
              <a:buNone/>
            </a:pPr>
            <a:r>
              <a:rPr lang="en-US" sz="1200" b="1" dirty="0">
                <a:solidFill>
                  <a:srgbClr val="0C2226"/>
                </a:solidFill>
                <a:latin typeface="Montserrat" pitchFamily="34" charset="0"/>
                <a:ea typeface="Montserrat" pitchFamily="34" charset="-122"/>
                <a:cs typeface="Montserrat" pitchFamily="34" charset="-120"/>
              </a:rPr>
              <a:t>Analyst</a:t>
            </a:r>
            <a:endParaRPr lang="en-US" sz="1200" dirty="0"/>
          </a:p>
          <a:p>
            <a:pPr algn="l" indent="0" marL="0">
              <a:lnSpc>
                <a:spcPts val="1440"/>
              </a:lnSpc>
              <a:buNone/>
            </a:pPr>
            <a:r>
              <a:rPr lang="en-US" sz="1200" dirty="0">
                <a:solidFill>
                  <a:srgbClr val="0C2226"/>
                </a:solidFill>
                <a:latin typeface="Montserrat" pitchFamily="34" charset="0"/>
                <a:ea typeface="Montserrat" pitchFamily="34" charset="-122"/>
                <a:cs typeface="Montserrat" pitchFamily="34" charset="-120"/>
              </a:rPr>
              <a:t>notes the gap</a:t>
            </a:r>
            <a:endParaRPr lang="en-US" sz="1200" dirty="0"/>
          </a:p>
        </p:txBody>
      </p:sp>
      <p:sp>
        <p:nvSpPr>
          <p:cNvPr id="63" name="Text 61"/>
          <p:cNvSpPr/>
          <p:nvPr/>
        </p:nvSpPr>
        <p:spPr>
          <a:xfrm>
            <a:off x="9697690" y="5571579"/>
            <a:ext cx="1681460" cy="416520"/>
          </a:xfrm>
          <a:prstGeom prst="roundRect">
            <a:avLst>
              <a:gd name="adj" fmla="val 18294"/>
            </a:avLst>
          </a:prstGeom>
          <a:solidFill>
            <a:srgbClr val="0C2226"/>
          </a:solidFill>
          <a:ln/>
        </p:spPr>
        <p:txBody>
          <a:bodyPr wrap="square" lIns="53882" tIns="3082" rIns="3082" bIns="0" rtlCol="0" anchor="t">
            <a:normAutofit/>
          </a:bodyPr>
          <a:lstStyle/>
          <a:p>
            <a:pPr algn="l" indent="0" marL="0">
              <a:lnSpc>
                <a:spcPts val="1440"/>
              </a:lnSpc>
              <a:buNone/>
            </a:pPr>
            <a:r>
              <a:rPr lang="en-US" sz="1200" b="1" dirty="0">
                <a:solidFill>
                  <a:srgbClr val="F6F3F0"/>
                </a:solidFill>
                <a:latin typeface="Montserrat" pitchFamily="34" charset="0"/>
                <a:ea typeface="Montserrat" pitchFamily="34" charset="-122"/>
                <a:cs typeface="Montserrat" pitchFamily="34" charset="-120"/>
              </a:rPr>
              <a:t>Suggestion</a:t>
            </a:r>
            <a:endParaRPr lang="en-US" sz="1200" dirty="0"/>
          </a:p>
          <a:p>
            <a:pPr algn="l" indent="0" marL="0">
              <a:lnSpc>
                <a:spcPts val="1440"/>
              </a:lnSpc>
              <a:buNone/>
            </a:pPr>
            <a:r>
              <a:rPr lang="en-US" sz="1200" dirty="0">
                <a:solidFill>
                  <a:srgbClr val="BFD8D5"/>
                </a:solidFill>
                <a:latin typeface="Montserrat" pitchFamily="34" charset="0"/>
                <a:ea typeface="Montserrat" pitchFamily="34" charset="-122"/>
                <a:cs typeface="Montserrat" pitchFamily="34" charset="-120"/>
              </a:rPr>
              <a:t>+ input, model</a:t>
            </a:r>
            <a:endParaRPr lang="en-US" sz="1200" dirty="0"/>
          </a:p>
        </p:txBody>
      </p:sp>
      <p:sp>
        <p:nvSpPr>
          <p:cNvPr id="64" name="Text 6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C70"/>
                </a:solidFill>
                <a:latin typeface="Montserrat" pitchFamily="34" charset="0"/>
                <a:ea typeface="Montserrat" pitchFamily="34" charset="-122"/>
                <a:cs typeface="Montserrat" pitchFamily="34" charset="-120"/>
              </a:rPr>
              <a:t>All nine also pass guardrails 1–5 on every call. The critic and the human gates are run by the workflow, not the agent.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F0"/>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67A67"/>
                </a:solidFill>
                <a:latin typeface="Montserrat" pitchFamily="34" charset="0"/>
                <a:ea typeface="Montserrat" pitchFamily="34" charset="-122"/>
                <a:cs typeface="Montserrat" pitchFamily="34" charset="-120"/>
              </a:rPr>
              <a:t>TRUSTOPS · AGENT MEMORY · BUILT TODAY</a:t>
            </a:r>
            <a:endParaRPr lang="en-US" sz="1200" dirty="0"/>
          </a:p>
        </p:txBody>
      </p:sp>
      <p:sp>
        <p:nvSpPr>
          <p:cNvPr id="3" name="Text 1"/>
          <p:cNvSpPr/>
          <p:nvPr>
            <p:ph type="title"/>
          </p:nvPr>
        </p:nvSpPr>
        <p:spPr>
          <a:xfrm>
            <a:off x="812800" y="924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0C2226"/>
                </a:solidFill>
                <a:latin typeface="Montserrat" pitchFamily="34" charset="0"/>
                <a:ea typeface="Montserrat" pitchFamily="34" charset="-122"/>
                <a:cs typeface="Montserrat" pitchFamily="34" charset="-120"/>
              </a:rPr>
              <a:t>Agents don’t keep notes. The harness does.</a:t>
            </a:r>
            <a:endParaRPr lang="en-US" sz="2600" dirty="0"/>
          </a:p>
        </p:txBody>
      </p:sp>
      <p:sp>
        <p:nvSpPr>
          <p:cNvPr id="4" name="Shape 2"/>
          <p:cNvSpPr/>
          <p:nvPr/>
        </p:nvSpPr>
        <p:spPr>
          <a:xfrm>
            <a:off x="822325" y="1660525"/>
            <a:ext cx="6965950" cy="4171950"/>
          </a:xfrm>
          <a:prstGeom prst="roundRect">
            <a:avLst>
              <a:gd name="adj" fmla="val 5860"/>
            </a:avLst>
          </a:prstGeom>
          <a:noFill/>
          <a:ln w="19050">
            <a:solidFill>
              <a:srgbClr val="067A67"/>
            </a:solidFill>
            <a:prstDash val="dash"/>
          </a:ln>
        </p:spPr>
      </p:sp>
      <p:sp>
        <p:nvSpPr>
          <p:cNvPr id="5" name="Shape 3"/>
          <p:cNvSpPr/>
          <p:nvPr/>
        </p:nvSpPr>
        <p:spPr>
          <a:xfrm>
            <a:off x="1143000" y="1968500"/>
            <a:ext cx="6324600" cy="3619500"/>
          </a:xfrm>
          <a:prstGeom prst="roundRect">
            <a:avLst>
              <a:gd name="adj" fmla="val 5614"/>
            </a:avLst>
          </a:prstGeom>
          <a:solidFill>
            <a:srgbClr val="E3EFEC"/>
          </a:solidFill>
          <a:ln/>
        </p:spPr>
      </p:sp>
      <p:sp>
        <p:nvSpPr>
          <p:cNvPr id="6" name="Shape 4"/>
          <p:cNvSpPr/>
          <p:nvPr/>
        </p:nvSpPr>
        <p:spPr>
          <a:xfrm>
            <a:off x="1524000" y="2730500"/>
            <a:ext cx="5562600" cy="2540000"/>
          </a:xfrm>
          <a:prstGeom prst="roundRect">
            <a:avLst>
              <a:gd name="adj" fmla="val 7000"/>
            </a:avLst>
          </a:prstGeom>
          <a:solidFill>
            <a:srgbClr val="CFE6E0"/>
          </a:solidFill>
          <a:ln/>
        </p:spPr>
      </p:sp>
      <p:sp>
        <p:nvSpPr>
          <p:cNvPr id="7" name="Shape 5"/>
          <p:cNvSpPr/>
          <p:nvPr/>
        </p:nvSpPr>
        <p:spPr>
          <a:xfrm>
            <a:off x="1905000" y="3492500"/>
            <a:ext cx="4800600" cy="1460500"/>
          </a:xfrm>
          <a:prstGeom prst="roundRect">
            <a:avLst>
              <a:gd name="adj" fmla="val 10435"/>
            </a:avLst>
          </a:prstGeom>
          <a:solidFill>
            <a:srgbClr val="A9D8CC"/>
          </a:solidFill>
          <a:ln/>
        </p:spPr>
      </p:sp>
      <p:pic>
        <p:nvPicPr>
          <p:cNvPr id="8" name="Image 0" descr="Database">    </p:cNvPr>
          <p:cNvPicPr>
            <a:picLocks noChangeAspect="1"/>
          </p:cNvPicPr>
          <p:nvPr/>
        </p:nvPicPr>
        <p:blipFill>
          <a:blip r:embed="rId1"/>
          <a:srcRect l="0" r="0" t="0" b="0"/>
          <a:stretch/>
        </p:blipFill>
        <p:spPr>
          <a:xfrm>
            <a:off x="1346200" y="2100560"/>
            <a:ext cx="203200" cy="203200"/>
          </a:xfrm>
          <a:prstGeom prst="rect">
            <a:avLst/>
          </a:prstGeom>
        </p:spPr>
      </p:pic>
      <p:sp>
        <p:nvSpPr>
          <p:cNvPr id="9" name="Text 6"/>
          <p:cNvSpPr/>
          <p:nvPr/>
        </p:nvSpPr>
        <p:spPr>
          <a:xfrm>
            <a:off x="1625600" y="2095500"/>
            <a:ext cx="2192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226"/>
                </a:solidFill>
                <a:latin typeface="Montserrat" pitchFamily="34" charset="0"/>
                <a:ea typeface="Montserrat" pitchFamily="34" charset="-122"/>
                <a:cs typeface="Montserrat" pitchFamily="34" charset="-120"/>
              </a:rPr>
              <a:t>Long-term memory</a:t>
            </a:r>
            <a:endParaRPr lang="en-US" sz="1400" dirty="0"/>
          </a:p>
        </p:txBody>
      </p:sp>
      <p:sp>
        <p:nvSpPr>
          <p:cNvPr id="10" name="Text 7"/>
          <p:cNvSpPr/>
          <p:nvPr/>
        </p:nvSpPr>
        <p:spPr>
          <a:xfrm>
            <a:off x="1346200" y="233422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Past cases · policy versions pinned per case · audit chain</a:t>
            </a:r>
            <a:endParaRPr lang="en-US" sz="1200" dirty="0"/>
          </a:p>
        </p:txBody>
      </p:sp>
      <p:pic>
        <p:nvPicPr>
          <p:cNvPr id="11" name="Image 1" descr="Book">    </p:cNvPr>
          <p:cNvPicPr>
            <a:picLocks noChangeAspect="1"/>
          </p:cNvPicPr>
          <p:nvPr/>
        </p:nvPicPr>
        <p:blipFill>
          <a:blip r:embed="rId2"/>
          <a:srcRect l="0" r="0" t="0" b="0"/>
          <a:stretch/>
        </p:blipFill>
        <p:spPr>
          <a:xfrm>
            <a:off x="1727200" y="2875260"/>
            <a:ext cx="203200" cy="203200"/>
          </a:xfrm>
          <a:prstGeom prst="rect">
            <a:avLst/>
          </a:prstGeom>
        </p:spPr>
      </p:pic>
      <p:sp>
        <p:nvSpPr>
          <p:cNvPr id="12" name="Text 8"/>
          <p:cNvSpPr/>
          <p:nvPr/>
        </p:nvSpPr>
        <p:spPr>
          <a:xfrm>
            <a:off x="2006600" y="2870200"/>
            <a:ext cx="102262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226"/>
                </a:solidFill>
                <a:latin typeface="Montserrat" pitchFamily="34" charset="0"/>
                <a:ea typeface="Montserrat" pitchFamily="34" charset="-122"/>
                <a:cs typeface="Montserrat" pitchFamily="34" charset="-120"/>
              </a:rPr>
              <a:t>This case</a:t>
            </a:r>
            <a:endParaRPr lang="en-US" sz="1400" dirty="0"/>
          </a:p>
        </p:txBody>
      </p:sp>
      <p:sp>
        <p:nvSpPr>
          <p:cNvPr id="13" name="Text 9"/>
          <p:cNvSpPr/>
          <p:nvPr/>
        </p:nvSpPr>
        <p:spPr>
          <a:xfrm>
            <a:off x="1727200" y="310892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Every agent output in a ledger · run log · token budget</a:t>
            </a:r>
            <a:endParaRPr lang="en-US" sz="1200" dirty="0"/>
          </a:p>
        </p:txBody>
      </p:sp>
      <p:pic>
        <p:nvPicPr>
          <p:cNvPr id="14" name="Image 2" descr="Settings">    </p:cNvPr>
          <p:cNvPicPr>
            <a:picLocks noChangeAspect="1"/>
          </p:cNvPicPr>
          <p:nvPr/>
        </p:nvPicPr>
        <p:blipFill>
          <a:blip r:embed="rId3"/>
          <a:srcRect l="0" r="0" t="0" b="0"/>
          <a:stretch/>
        </p:blipFill>
        <p:spPr>
          <a:xfrm>
            <a:off x="2108200" y="3637260"/>
            <a:ext cx="203200" cy="203200"/>
          </a:xfrm>
          <a:prstGeom prst="rect">
            <a:avLst/>
          </a:prstGeom>
        </p:spPr>
      </p:pic>
      <p:sp>
        <p:nvSpPr>
          <p:cNvPr id="15" name="Text 10"/>
          <p:cNvSpPr/>
          <p:nvPr/>
        </p:nvSpPr>
        <p:spPr>
          <a:xfrm>
            <a:off x="2387600" y="3632200"/>
            <a:ext cx="8694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226"/>
                </a:solidFill>
                <a:latin typeface="Montserrat" pitchFamily="34" charset="0"/>
                <a:ea typeface="Montserrat" pitchFamily="34" charset="-122"/>
                <a:cs typeface="Montserrat" pitchFamily="34" charset="-120"/>
              </a:rPr>
              <a:t>This job</a:t>
            </a:r>
            <a:endParaRPr lang="en-US" sz="1400" dirty="0"/>
          </a:p>
        </p:txBody>
      </p:sp>
      <p:sp>
        <p:nvSpPr>
          <p:cNvPr id="16" name="Text 11"/>
          <p:cNvSpPr/>
          <p:nvPr/>
        </p:nvSpPr>
        <p:spPr>
          <a:xfrm>
            <a:off x="2108200" y="3870920"/>
            <a:ext cx="27470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A3E"/>
                </a:solidFill>
                <a:latin typeface="Montserrat" pitchFamily="34" charset="0"/>
                <a:ea typeface="Montserrat" pitchFamily="34" charset="-122"/>
                <a:cs typeface="Montserrat" pitchFamily="34" charset="-120"/>
              </a:rPr>
              <a:t>Input pack built by code: small, capped, hashed</a:t>
            </a:r>
            <a:endParaRPr lang="en-US" sz="1200" dirty="0"/>
          </a:p>
        </p:txBody>
      </p:sp>
      <p:sp>
        <p:nvSpPr>
          <p:cNvPr id="17" name="Shape 12"/>
          <p:cNvSpPr/>
          <p:nvPr/>
        </p:nvSpPr>
        <p:spPr>
          <a:xfrm>
            <a:off x="5080000" y="3619500"/>
            <a:ext cx="1498600" cy="1206500"/>
          </a:xfrm>
          <a:prstGeom prst="roundRect">
            <a:avLst>
              <a:gd name="adj" fmla="val 10526"/>
            </a:avLst>
          </a:prstGeom>
          <a:solidFill>
            <a:srgbClr val="0C2226"/>
          </a:solidFill>
          <a:ln/>
        </p:spPr>
      </p:sp>
      <p:pic>
        <p:nvPicPr>
          <p:cNvPr id="18" name="Image 3" descr="Lightning">    </p:cNvPr>
          <p:cNvPicPr>
            <a:picLocks noChangeAspect="1"/>
          </p:cNvPicPr>
          <p:nvPr/>
        </p:nvPicPr>
        <p:blipFill>
          <a:blip r:embed="rId4"/>
          <a:srcRect l="0" r="0" t="-586" b="-586"/>
          <a:stretch/>
        </p:blipFill>
        <p:spPr>
          <a:xfrm>
            <a:off x="5232400" y="3771900"/>
            <a:ext cx="254000" cy="231279"/>
          </a:xfrm>
          <a:prstGeom prst="rect">
            <a:avLst/>
          </a:prstGeom>
        </p:spPr>
      </p:pic>
      <p:sp>
        <p:nvSpPr>
          <p:cNvPr id="19" name="Text 13"/>
          <p:cNvSpPr/>
          <p:nvPr/>
        </p:nvSpPr>
        <p:spPr>
          <a:xfrm>
            <a:off x="5232400" y="4053979"/>
            <a:ext cx="1244600" cy="233561"/>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F6F3F0"/>
                </a:solidFill>
                <a:latin typeface="Montserrat" pitchFamily="34" charset="0"/>
                <a:ea typeface="Montserrat" pitchFamily="34" charset="-122"/>
                <a:cs typeface="Montserrat" pitchFamily="34" charset="-120"/>
              </a:rPr>
              <a:t>Agent</a:t>
            </a:r>
            <a:endParaRPr lang="en-US" sz="1392" dirty="0"/>
          </a:p>
        </p:txBody>
      </p:sp>
      <p:sp>
        <p:nvSpPr>
          <p:cNvPr id="20" name="Text 14"/>
          <p:cNvSpPr/>
          <p:nvPr/>
        </p:nvSpPr>
        <p:spPr>
          <a:xfrm>
            <a:off x="5232400" y="4312940"/>
            <a:ext cx="1244600" cy="386060"/>
          </a:xfrm>
          <a:prstGeom prst="rect">
            <a:avLst/>
          </a:prstGeom>
          <a:noFill/>
          <a:ln/>
        </p:spPr>
        <p:txBody>
          <a:bodyPr wrap="square" lIns="0" tIns="0" rIns="0" bIns="0" rtlCol="0" anchor="t">
            <a:normAutofit/>
          </a:bodyPr>
          <a:lstStyle/>
          <a:p>
            <a:pPr algn="l" indent="0" marL="0">
              <a:lnSpc>
                <a:spcPts val="1433"/>
              </a:lnSpc>
              <a:buNone/>
            </a:pPr>
            <a:r>
              <a:rPr lang="en-US" sz="1103" dirty="0">
                <a:solidFill>
                  <a:srgbClr val="D5E8E4"/>
                </a:solidFill>
                <a:latin typeface="Montserrat" pitchFamily="34" charset="0"/>
                <a:ea typeface="Montserrat" pitchFamily="34" charset="-122"/>
                <a:cs typeface="Montserrat" pitchFamily="34" charset="-120"/>
              </a:rPr>
              <a:t>One call, fresh start</a:t>
            </a:r>
            <a:endParaRPr lang="en-US" sz="1103" dirty="0"/>
          </a:p>
        </p:txBody>
      </p:sp>
      <p:sp>
        <p:nvSpPr>
          <p:cNvPr id="21" name="Text 15"/>
          <p:cNvSpPr/>
          <p:nvPr/>
        </p:nvSpPr>
        <p:spPr>
          <a:xfrm>
            <a:off x="1066800" y="1492250"/>
            <a:ext cx="1167606" cy="289520"/>
          </a:xfrm>
          <a:custGeom>
            <a:avLst/>
            <a:gdLst/>
            <a:ahLst/>
            <a:cxnLst/>
            <a:rect l="l" t="t" r="r" b="b"/>
            <a:pathLst>
              <a:path w="1167606" h="289520">
                <a:moveTo>
                  <a:pt x="144760" y="0"/>
                </a:moveTo>
                <a:lnTo>
                  <a:pt x="1022846" y="0"/>
                </a:lnTo>
                <a:arcTo hR="144760" wR="144760" stAng="16200000" swAng="5400000"/>
                <a:lnTo>
                  <a:pt x="1167606" y="144760"/>
                </a:lnTo>
                <a:arcTo hR="144760" wR="144760" stAng="0" swAng="5400000"/>
                <a:lnTo>
                  <a:pt x="144760" y="289520"/>
                </a:lnTo>
                <a:arcTo hR="144760" wR="144760" stAng="5400000" swAng="5400000"/>
                <a:lnTo>
                  <a:pt x="0" y="144760"/>
                </a:lnTo>
                <a:arcTo hR="144760" wR="144760" stAng="10800000" swAng="5400000"/>
                <a:close/>
              </a:path>
            </a:pathLst>
          </a:custGeom>
          <a:solidFill>
            <a:srgbClr val="0C2226"/>
          </a:solidFill>
          <a:ln/>
        </p:spPr>
        <p:txBody>
          <a:bodyPr wrap="none" lIns="0" tIns="0" rIns="0" bIns="0" rtlCol="0" anchor="ctr">
            <a:normAutofit/>
          </a:bodyPr>
          <a:lstStyle/>
          <a:p>
            <a:pPr algn="ctr" indent="0" marL="0">
              <a:lnSpc>
                <a:spcPts val="1680"/>
              </a:lnSpc>
              <a:buNone/>
            </a:pPr>
            <a:r>
              <a:rPr lang="en-US" sz="1200" b="1" dirty="0">
                <a:solidFill>
                  <a:srgbClr val="52E081"/>
                </a:solidFill>
                <a:latin typeface="Montserrat" pitchFamily="34" charset="0"/>
                <a:ea typeface="Montserrat" pitchFamily="34" charset="-122"/>
                <a:cs typeface="Montserrat" pitchFamily="34" charset="-120"/>
              </a:rPr>
              <a:t>7 guardrails</a:t>
            </a:r>
            <a:endParaRPr lang="en-US" sz="1200" dirty="0"/>
          </a:p>
        </p:txBody>
      </p:sp>
      <p:sp>
        <p:nvSpPr>
          <p:cNvPr id="22" name="Text 16"/>
          <p:cNvSpPr/>
          <p:nvPr/>
        </p:nvSpPr>
        <p:spPr>
          <a:xfrm>
            <a:off x="2316956" y="1498600"/>
            <a:ext cx="1120874" cy="276820"/>
          </a:xfrm>
          <a:custGeom>
            <a:avLst/>
            <a:gdLst/>
            <a:ahLst/>
            <a:cxnLst/>
            <a:rect l="l" t="t" r="r" b="b"/>
            <a:pathLst>
              <a:path w="1120874" h="276820">
                <a:moveTo>
                  <a:pt x="138410" y="0"/>
                </a:moveTo>
                <a:lnTo>
                  <a:pt x="982464" y="0"/>
                </a:lnTo>
                <a:arcTo hR="138410" wR="138410" stAng="16200000" swAng="5400000"/>
                <a:lnTo>
                  <a:pt x="1120874" y="138410"/>
                </a:lnTo>
                <a:arcTo hR="138410" wR="138410" stAng="0" swAng="5400000"/>
                <a:lnTo>
                  <a:pt x="138410" y="276820"/>
                </a:lnTo>
                <a:arcTo hR="138410" wR="138410" stAng="5400000" swAng="5400000"/>
                <a:lnTo>
                  <a:pt x="0" y="138410"/>
                </a:lnTo>
                <a:arcTo hR="138410" wR="138410" stAng="10800000" swAng="5400000"/>
                <a:close/>
              </a:path>
            </a:pathLst>
          </a:custGeom>
          <a:solidFill>
            <a:srgbClr val="F6F3F0"/>
          </a:solidFill>
          <a:ln w="12700">
            <a:solidFill>
              <a:srgbClr val="067A67"/>
            </a:solidFill>
            <a:prstDash val="solid"/>
          </a:ln>
        </p:spPr>
        <p:txBody>
          <a:bodyPr wrap="none" lIns="0" tIns="0" rIns="0" bIns="0" rtlCol="0" anchor="ctr">
            <a:normAutofit/>
          </a:bodyPr>
          <a:lstStyle/>
          <a:p>
            <a:pPr algn="ctr"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1 Input scan</a:t>
            </a:r>
            <a:endParaRPr lang="en-US" sz="1200" dirty="0"/>
          </a:p>
        </p:txBody>
      </p:sp>
      <p:sp>
        <p:nvSpPr>
          <p:cNvPr id="23" name="Text 17"/>
          <p:cNvSpPr/>
          <p:nvPr/>
        </p:nvSpPr>
        <p:spPr>
          <a:xfrm>
            <a:off x="3526730" y="1498600"/>
            <a:ext cx="1286718" cy="276820"/>
          </a:xfrm>
          <a:custGeom>
            <a:avLst/>
            <a:gdLst/>
            <a:ahLst/>
            <a:cxnLst/>
            <a:rect l="l" t="t" r="r" b="b"/>
            <a:pathLst>
              <a:path w="1286718" h="276820">
                <a:moveTo>
                  <a:pt x="138410" y="0"/>
                </a:moveTo>
                <a:lnTo>
                  <a:pt x="1148308" y="0"/>
                </a:lnTo>
                <a:arcTo hR="138410" wR="138410" stAng="16200000" swAng="5400000"/>
                <a:lnTo>
                  <a:pt x="1286718" y="138410"/>
                </a:lnTo>
                <a:arcTo hR="138410" wR="138410" stAng="0" swAng="5400000"/>
                <a:lnTo>
                  <a:pt x="138410" y="276820"/>
                </a:lnTo>
                <a:arcTo hR="138410" wR="138410" stAng="5400000" swAng="5400000"/>
                <a:lnTo>
                  <a:pt x="0" y="138410"/>
                </a:lnTo>
                <a:arcTo hR="138410" wR="138410" stAng="10800000" swAng="5400000"/>
                <a:close/>
              </a:path>
            </a:pathLst>
          </a:custGeom>
          <a:solidFill>
            <a:srgbClr val="F6F3F0"/>
          </a:solidFill>
          <a:ln w="12700">
            <a:solidFill>
              <a:srgbClr val="067A67"/>
            </a:solidFill>
            <a:prstDash val="solid"/>
          </a:ln>
        </p:spPr>
        <p:txBody>
          <a:bodyPr wrap="none" lIns="0" tIns="0" rIns="0" bIns="0" rtlCol="0" anchor="ctr">
            <a:normAutofit/>
          </a:bodyPr>
          <a:lstStyle/>
          <a:p>
            <a:pPr algn="ctr"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2 Tool permits</a:t>
            </a:r>
            <a:endParaRPr lang="en-US" sz="1200" dirty="0"/>
          </a:p>
        </p:txBody>
      </p:sp>
      <p:sp>
        <p:nvSpPr>
          <p:cNvPr id="24" name="Text 18"/>
          <p:cNvSpPr/>
          <p:nvPr/>
        </p:nvSpPr>
        <p:spPr>
          <a:xfrm>
            <a:off x="4902349" y="1498600"/>
            <a:ext cx="921097" cy="276820"/>
          </a:xfrm>
          <a:custGeom>
            <a:avLst/>
            <a:gdLst/>
            <a:ahLst/>
            <a:cxnLst/>
            <a:rect l="l" t="t" r="r" b="b"/>
            <a:pathLst>
              <a:path w="921097" h="276820">
                <a:moveTo>
                  <a:pt x="138410" y="0"/>
                </a:moveTo>
                <a:lnTo>
                  <a:pt x="782687" y="0"/>
                </a:lnTo>
                <a:arcTo hR="138410" wR="138410" stAng="16200000" swAng="5400000"/>
                <a:lnTo>
                  <a:pt x="921097" y="138410"/>
                </a:lnTo>
                <a:arcTo hR="138410" wR="138410" stAng="0" swAng="5400000"/>
                <a:lnTo>
                  <a:pt x="138410" y="276820"/>
                </a:lnTo>
                <a:arcTo hR="138410" wR="138410" stAng="5400000" swAng="5400000"/>
                <a:lnTo>
                  <a:pt x="0" y="138410"/>
                </a:lnTo>
                <a:arcTo hR="138410" wR="138410" stAng="10800000" swAng="5400000"/>
                <a:close/>
              </a:path>
            </a:pathLst>
          </a:custGeom>
          <a:solidFill>
            <a:srgbClr val="F6F3F0"/>
          </a:solidFill>
          <a:ln w="12700">
            <a:solidFill>
              <a:srgbClr val="067A67"/>
            </a:solidFill>
            <a:prstDash val="solid"/>
          </a:ln>
        </p:spPr>
        <p:txBody>
          <a:bodyPr wrap="none" lIns="0" tIns="0" rIns="0" bIns="0" rtlCol="0" anchor="ctr">
            <a:normAutofit/>
          </a:bodyPr>
          <a:lstStyle/>
          <a:p>
            <a:pPr algn="ctr"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3 Budget</a:t>
            </a:r>
            <a:endParaRPr lang="en-US" sz="1200" dirty="0"/>
          </a:p>
        </p:txBody>
      </p:sp>
      <p:sp>
        <p:nvSpPr>
          <p:cNvPr id="25" name="Text 19"/>
          <p:cNvSpPr/>
          <p:nvPr/>
        </p:nvSpPr>
        <p:spPr>
          <a:xfrm>
            <a:off x="1073150" y="5689600"/>
            <a:ext cx="1411833" cy="276820"/>
          </a:xfrm>
          <a:custGeom>
            <a:avLst/>
            <a:gdLst/>
            <a:ahLst/>
            <a:cxnLst/>
            <a:rect l="l" t="t" r="r" b="b"/>
            <a:pathLst>
              <a:path w="1411833" h="276820">
                <a:moveTo>
                  <a:pt x="138410" y="0"/>
                </a:moveTo>
                <a:lnTo>
                  <a:pt x="1273423" y="0"/>
                </a:lnTo>
                <a:arcTo hR="138410" wR="138410" stAng="16200000" swAng="5400000"/>
                <a:lnTo>
                  <a:pt x="1411833" y="138410"/>
                </a:lnTo>
                <a:arcTo hR="138410" wR="138410" stAng="0" swAng="5400000"/>
                <a:lnTo>
                  <a:pt x="138410" y="276820"/>
                </a:lnTo>
                <a:arcTo hR="138410" wR="138410" stAng="5400000" swAng="5400000"/>
                <a:lnTo>
                  <a:pt x="0" y="138410"/>
                </a:lnTo>
                <a:arcTo hR="138410" wR="138410" stAng="10800000" swAng="5400000"/>
                <a:close/>
              </a:path>
            </a:pathLst>
          </a:custGeom>
          <a:solidFill>
            <a:srgbClr val="F6F3F0"/>
          </a:solidFill>
          <a:ln w="12700">
            <a:solidFill>
              <a:srgbClr val="067A67"/>
            </a:solidFill>
            <a:prstDash val="solid"/>
          </a:ln>
        </p:spPr>
        <p:txBody>
          <a:bodyPr wrap="none" lIns="0" tIns="0" rIns="0" bIns="0" rtlCol="0" anchor="ctr">
            <a:normAutofit/>
          </a:bodyPr>
          <a:lstStyle/>
          <a:p>
            <a:pPr algn="ctr"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4 Output check</a:t>
            </a:r>
            <a:endParaRPr lang="en-US" sz="1200" dirty="0"/>
          </a:p>
        </p:txBody>
      </p:sp>
      <p:sp>
        <p:nvSpPr>
          <p:cNvPr id="26" name="Text 20"/>
          <p:cNvSpPr/>
          <p:nvPr/>
        </p:nvSpPr>
        <p:spPr>
          <a:xfrm>
            <a:off x="2573883" y="5689600"/>
            <a:ext cx="762397" cy="276820"/>
          </a:xfrm>
          <a:custGeom>
            <a:avLst/>
            <a:gdLst/>
            <a:ahLst/>
            <a:cxnLst/>
            <a:rect l="l" t="t" r="r" b="b"/>
            <a:pathLst>
              <a:path w="762397" h="276820">
                <a:moveTo>
                  <a:pt x="138410" y="0"/>
                </a:moveTo>
                <a:lnTo>
                  <a:pt x="623987" y="0"/>
                </a:lnTo>
                <a:arcTo hR="138410" wR="138410" stAng="16200000" swAng="5400000"/>
                <a:lnTo>
                  <a:pt x="762397" y="138410"/>
                </a:lnTo>
                <a:arcTo hR="138410" wR="138410" stAng="0" swAng="5400000"/>
                <a:lnTo>
                  <a:pt x="138410" y="276820"/>
                </a:lnTo>
                <a:arcTo hR="138410" wR="138410" stAng="5400000" swAng="5400000"/>
                <a:lnTo>
                  <a:pt x="0" y="138410"/>
                </a:lnTo>
                <a:arcTo hR="138410" wR="138410" stAng="10800000" swAng="5400000"/>
                <a:close/>
              </a:path>
            </a:pathLst>
          </a:custGeom>
          <a:solidFill>
            <a:srgbClr val="F6F3F0"/>
          </a:solidFill>
          <a:ln w="12700">
            <a:solidFill>
              <a:srgbClr val="067A67"/>
            </a:solidFill>
            <a:prstDash val="solid"/>
          </a:ln>
        </p:spPr>
        <p:txBody>
          <a:bodyPr wrap="none" lIns="0" tIns="0" rIns="0" bIns="0" rtlCol="0" anchor="ctr">
            <a:normAutofit/>
          </a:bodyPr>
          <a:lstStyle/>
          <a:p>
            <a:pPr algn="ctr"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5 Rules</a:t>
            </a:r>
            <a:endParaRPr lang="en-US" sz="1200" dirty="0"/>
          </a:p>
        </p:txBody>
      </p:sp>
      <p:sp>
        <p:nvSpPr>
          <p:cNvPr id="27" name="Text 21"/>
          <p:cNvSpPr/>
          <p:nvPr/>
        </p:nvSpPr>
        <p:spPr>
          <a:xfrm>
            <a:off x="3425180" y="5689600"/>
            <a:ext cx="745034" cy="276820"/>
          </a:xfrm>
          <a:custGeom>
            <a:avLst/>
            <a:gdLst/>
            <a:ahLst/>
            <a:cxnLst/>
            <a:rect l="l" t="t" r="r" b="b"/>
            <a:pathLst>
              <a:path w="745034" h="276820">
                <a:moveTo>
                  <a:pt x="138410" y="0"/>
                </a:moveTo>
                <a:lnTo>
                  <a:pt x="606623" y="0"/>
                </a:lnTo>
                <a:arcTo hR="138410" wR="138410" stAng="16200000" swAng="5400000"/>
                <a:lnTo>
                  <a:pt x="745034" y="138410"/>
                </a:lnTo>
                <a:arcTo hR="138410" wR="138410" stAng="0" swAng="5400000"/>
                <a:lnTo>
                  <a:pt x="138410" y="276820"/>
                </a:lnTo>
                <a:arcTo hR="138410" wR="138410" stAng="5400000" swAng="5400000"/>
                <a:lnTo>
                  <a:pt x="0" y="138410"/>
                </a:lnTo>
                <a:arcTo hR="138410" wR="138410" stAng="10800000" swAng="5400000"/>
                <a:close/>
              </a:path>
            </a:pathLst>
          </a:custGeom>
          <a:solidFill>
            <a:srgbClr val="F6F3F0"/>
          </a:solidFill>
          <a:ln w="12700">
            <a:solidFill>
              <a:srgbClr val="067A67"/>
            </a:solidFill>
            <a:prstDash val="solid"/>
          </a:ln>
        </p:spPr>
        <p:txBody>
          <a:bodyPr wrap="none" lIns="0" tIns="0" rIns="0" bIns="0" rtlCol="0" anchor="ctr">
            <a:normAutofit/>
          </a:bodyPr>
          <a:lstStyle/>
          <a:p>
            <a:pPr algn="ctr"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6 Critic</a:t>
            </a:r>
            <a:endParaRPr lang="en-US" sz="1200" dirty="0"/>
          </a:p>
        </p:txBody>
      </p:sp>
      <p:sp>
        <p:nvSpPr>
          <p:cNvPr id="28" name="Text 22"/>
          <p:cNvSpPr/>
          <p:nvPr/>
        </p:nvSpPr>
        <p:spPr>
          <a:xfrm>
            <a:off x="4259114" y="5689600"/>
            <a:ext cx="1312019" cy="276820"/>
          </a:xfrm>
          <a:custGeom>
            <a:avLst/>
            <a:gdLst/>
            <a:ahLst/>
            <a:cxnLst/>
            <a:rect l="l" t="t" r="r" b="b"/>
            <a:pathLst>
              <a:path w="1312019" h="276820">
                <a:moveTo>
                  <a:pt x="138410" y="0"/>
                </a:moveTo>
                <a:lnTo>
                  <a:pt x="1173609" y="0"/>
                </a:lnTo>
                <a:arcTo hR="138410" wR="138410" stAng="16200000" swAng="5400000"/>
                <a:lnTo>
                  <a:pt x="1312019" y="138410"/>
                </a:lnTo>
                <a:arcTo hR="138410" wR="138410" stAng="0" swAng="5400000"/>
                <a:lnTo>
                  <a:pt x="138410" y="276820"/>
                </a:lnTo>
                <a:arcTo hR="138410" wR="138410" stAng="5400000" swAng="5400000"/>
                <a:lnTo>
                  <a:pt x="0" y="138410"/>
                </a:lnTo>
                <a:arcTo hR="138410" wR="138410" stAng="10800000" swAng="5400000"/>
                <a:close/>
              </a:path>
            </a:pathLst>
          </a:custGeom>
          <a:solidFill>
            <a:srgbClr val="F6F3F0"/>
          </a:solidFill>
          <a:ln w="12700">
            <a:solidFill>
              <a:srgbClr val="067A67"/>
            </a:solidFill>
            <a:prstDash val="solid"/>
          </a:ln>
        </p:spPr>
        <p:txBody>
          <a:bodyPr wrap="none" lIns="0" tIns="0" rIns="0" bIns="0" rtlCol="0" anchor="ctr">
            <a:normAutofit/>
          </a:bodyPr>
          <a:lstStyle/>
          <a:p>
            <a:pPr algn="ctr"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7 Human gate</a:t>
            </a:r>
            <a:endParaRPr lang="en-US" sz="1200" dirty="0"/>
          </a:p>
        </p:txBody>
      </p:sp>
      <p:sp>
        <p:nvSpPr>
          <p:cNvPr id="29" name="Shape 23"/>
          <p:cNvSpPr/>
          <p:nvPr/>
        </p:nvSpPr>
        <p:spPr>
          <a:xfrm>
            <a:off x="8191500" y="1651000"/>
            <a:ext cx="3187700" cy="1208881"/>
          </a:xfrm>
          <a:prstGeom prst="roundRect">
            <a:avLst>
              <a:gd name="adj" fmla="val 8404"/>
            </a:avLst>
          </a:prstGeom>
          <a:solidFill>
            <a:srgbClr val="F3D9A4"/>
          </a:solidFill>
          <a:ln/>
        </p:spPr>
      </p:sp>
      <p:pic>
        <p:nvPicPr>
          <p:cNvPr id="30" name="Image 4" descr="Warning">    </p:cNvPr>
          <p:cNvPicPr>
            <a:picLocks noChangeAspect="1"/>
          </p:cNvPicPr>
          <p:nvPr/>
        </p:nvPicPr>
        <p:blipFill>
          <a:blip r:embed="rId5"/>
          <a:srcRect l="0" r="0" t="0" b="0"/>
          <a:stretch/>
        </p:blipFill>
        <p:spPr>
          <a:xfrm>
            <a:off x="8343900" y="1808460"/>
            <a:ext cx="203200" cy="203200"/>
          </a:xfrm>
          <a:prstGeom prst="rect">
            <a:avLst/>
          </a:prstGeom>
        </p:spPr>
      </p:pic>
      <p:sp>
        <p:nvSpPr>
          <p:cNvPr id="31" name="Text 24"/>
          <p:cNvSpPr/>
          <p:nvPr/>
        </p:nvSpPr>
        <p:spPr>
          <a:xfrm>
            <a:off x="8623300" y="1803400"/>
            <a:ext cx="10994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226"/>
                </a:solidFill>
                <a:latin typeface="Montserrat" pitchFamily="34" charset="0"/>
                <a:ea typeface="Montserrat" pitchFamily="34" charset="-122"/>
                <a:cs typeface="Montserrat" pitchFamily="34" charset="-120"/>
              </a:rPr>
              <a:t>On failure</a:t>
            </a:r>
            <a:endParaRPr lang="en-US" sz="1400" dirty="0"/>
          </a:p>
        </p:txBody>
      </p:sp>
      <p:sp>
        <p:nvSpPr>
          <p:cNvPr id="32" name="Text 25"/>
          <p:cNvSpPr/>
          <p:nvPr/>
        </p:nvSpPr>
        <p:spPr>
          <a:xfrm>
            <a:off x="8343900" y="2067520"/>
            <a:ext cx="29693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2226"/>
                </a:solidFill>
                <a:latin typeface="Montserrat" pitchFamily="34" charset="0"/>
                <a:ea typeface="Montserrat" pitchFamily="34" charset="-122"/>
                <a:cs typeface="Montserrat" pitchFamily="34" charset="-120"/>
              </a:rPr>
              <a:t>The exact input is saved. An analyst finishes the step and the case resumes.</a:t>
            </a:r>
            <a:endParaRPr lang="en-US" sz="1200" dirty="0"/>
          </a:p>
        </p:txBody>
      </p:sp>
      <p:sp>
        <p:nvSpPr>
          <p:cNvPr id="33" name="Shape 26"/>
          <p:cNvSpPr/>
          <p:nvPr/>
        </p:nvSpPr>
        <p:spPr>
          <a:xfrm>
            <a:off x="8194675" y="3015456"/>
            <a:ext cx="3181350" cy="1001911"/>
          </a:xfrm>
          <a:prstGeom prst="roundRect">
            <a:avLst>
              <a:gd name="adj" fmla="val 9824"/>
            </a:avLst>
          </a:prstGeom>
          <a:solidFill>
            <a:srgbClr val="FBFAF8"/>
          </a:solidFill>
          <a:ln w="6350">
            <a:solidFill>
              <a:srgbClr val="E2DDD6"/>
            </a:solidFill>
            <a:prstDash val="solid"/>
          </a:ln>
        </p:spPr>
      </p:sp>
      <p:pic>
        <p:nvPicPr>
          <p:cNvPr id="34" name="Image 5" descr="Search">    </p:cNvPr>
          <p:cNvPicPr>
            <a:picLocks noChangeAspect="1"/>
          </p:cNvPicPr>
          <p:nvPr/>
        </p:nvPicPr>
        <p:blipFill>
          <a:blip r:embed="rId6"/>
          <a:srcRect l="0" r="0" t="0" b="0"/>
          <a:stretch/>
        </p:blipFill>
        <p:spPr>
          <a:xfrm>
            <a:off x="8350250" y="3176091"/>
            <a:ext cx="203200" cy="203200"/>
          </a:xfrm>
          <a:prstGeom prst="rect">
            <a:avLst/>
          </a:prstGeom>
        </p:spPr>
      </p:pic>
      <p:sp>
        <p:nvSpPr>
          <p:cNvPr id="35" name="Text 27"/>
          <p:cNvSpPr/>
          <p:nvPr/>
        </p:nvSpPr>
        <p:spPr>
          <a:xfrm>
            <a:off x="8629650" y="3171031"/>
            <a:ext cx="10830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226"/>
                </a:solidFill>
                <a:latin typeface="Montserrat" pitchFamily="34" charset="0"/>
                <a:ea typeface="Montserrat" pitchFamily="34" charset="-122"/>
                <a:cs typeface="Montserrat" pitchFamily="34" charset="-120"/>
              </a:rPr>
              <a:t>On re-run</a:t>
            </a:r>
            <a:endParaRPr lang="en-US" sz="1400" dirty="0"/>
          </a:p>
        </p:txBody>
      </p:sp>
      <p:sp>
        <p:nvSpPr>
          <p:cNvPr id="36" name="Text 28"/>
          <p:cNvSpPr/>
          <p:nvPr/>
        </p:nvSpPr>
        <p:spPr>
          <a:xfrm>
            <a:off x="8350250" y="3435152"/>
            <a:ext cx="29563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84B"/>
                </a:solidFill>
                <a:latin typeface="Montserrat" pitchFamily="34" charset="0"/>
                <a:ea typeface="Montserrat" pitchFamily="34" charset="-122"/>
                <a:cs typeface="Montserrat" pitchFamily="34" charset="-120"/>
              </a:rPr>
              <a:t>Only the changed fields are redone. Earlier lookups come from a cache.</a:t>
            </a:r>
            <a:endParaRPr lang="en-US" sz="1200" dirty="0"/>
          </a:p>
        </p:txBody>
      </p:sp>
      <p:sp>
        <p:nvSpPr>
          <p:cNvPr id="37" name="Shape 29"/>
          <p:cNvSpPr/>
          <p:nvPr/>
        </p:nvSpPr>
        <p:spPr>
          <a:xfrm>
            <a:off x="8191500" y="4172942"/>
            <a:ext cx="3187700" cy="1208881"/>
          </a:xfrm>
          <a:prstGeom prst="roundRect">
            <a:avLst>
              <a:gd name="adj" fmla="val 8404"/>
            </a:avLst>
          </a:prstGeom>
          <a:solidFill>
            <a:srgbClr val="0C2226"/>
          </a:solidFill>
          <a:ln/>
        </p:spPr>
      </p:sp>
      <p:pic>
        <p:nvPicPr>
          <p:cNvPr id="38" name="Image 6" descr="Verified">    </p:cNvPr>
          <p:cNvPicPr>
            <a:picLocks noChangeAspect="1"/>
          </p:cNvPicPr>
          <p:nvPr/>
        </p:nvPicPr>
        <p:blipFill>
          <a:blip r:embed="rId7"/>
          <a:srcRect l="0" r="0" t="0" b="0"/>
          <a:stretch/>
        </p:blipFill>
        <p:spPr>
          <a:xfrm>
            <a:off x="8343900" y="4330402"/>
            <a:ext cx="203200" cy="203200"/>
          </a:xfrm>
          <a:prstGeom prst="rect">
            <a:avLst/>
          </a:prstGeom>
        </p:spPr>
      </p:pic>
      <p:sp>
        <p:nvSpPr>
          <p:cNvPr id="39" name="Text 30"/>
          <p:cNvSpPr/>
          <p:nvPr/>
        </p:nvSpPr>
        <p:spPr>
          <a:xfrm>
            <a:off x="8623300" y="4325342"/>
            <a:ext cx="21653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F0"/>
                </a:solidFill>
                <a:latin typeface="Montserrat" pitchFamily="34" charset="0"/>
                <a:ea typeface="Montserrat" pitchFamily="34" charset="-122"/>
                <a:cs typeface="Montserrat" pitchFamily="34" charset="-120"/>
              </a:rPr>
              <a:t>No hidden memory</a:t>
            </a:r>
            <a:endParaRPr lang="en-US" sz="1400" dirty="0"/>
          </a:p>
        </p:txBody>
      </p:sp>
      <p:sp>
        <p:nvSpPr>
          <p:cNvPr id="40" name="Text 31"/>
          <p:cNvSpPr/>
          <p:nvPr/>
        </p:nvSpPr>
        <p:spPr>
          <a:xfrm>
            <a:off x="8343900" y="4589463"/>
            <a:ext cx="29693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E8E4"/>
                </a:solidFill>
                <a:latin typeface="Montserrat" pitchFamily="34" charset="0"/>
                <a:ea typeface="Montserrat" pitchFamily="34" charset="-122"/>
                <a:cs typeface="Montserrat" pitchFamily="34" charset="-120"/>
              </a:rPr>
              <a:t>Every input and output is stored, so any step can be audited and replayed.</a:t>
            </a:r>
            <a:endParaRPr lang="en-US" sz="1200" dirty="0"/>
          </a:p>
        </p:txBody>
      </p:sp>
    </p:spTree>
  </p:cSld>
  <p:clrMapOvr>
    <a:masterClrMapping/>
  </p:clrMapOvr>
</p:sld>
</file>

<file path=ppt/theme/theme1.xml><?xml version="1.0" encoding="utf-8"?>
<a:theme xmlns:a="http://schemas.openxmlformats.org/drawingml/2006/main" name="TrustOps AI State">
  <a:themeElements>
    <a:clrScheme name="TrustOps AI State">
      <a:dk1>
        <a:srgbClr val="0C2226"/>
      </a:dk1>
      <a:lt1>
        <a:srgbClr val="F6F3F0"/>
      </a:lt1>
      <a:dk2>
        <a:srgbClr val="475659"/>
      </a:dk2>
      <a:lt2>
        <a:srgbClr val="DFDEDC"/>
      </a:lt2>
      <a:accent1>
        <a:srgbClr val="A9D8CC"/>
      </a:accent1>
      <a:accent2>
        <a:srgbClr val="067A67"/>
      </a:accent2>
      <a:accent3>
        <a:srgbClr val="09A78D"/>
      </a:accent3>
      <a:accent4>
        <a:srgbClr val="52E081"/>
      </a:accent4>
      <a:accent5>
        <a:srgbClr val="145B55"/>
      </a:accent5>
      <a:accent6>
        <a:srgbClr val="F3D9A4"/>
      </a:accent6>
      <a:hlink>
        <a:srgbClr val="0563C1"/>
      </a:hlink>
      <a:folHlink>
        <a:srgbClr val="954F72"/>
      </a:folHlink>
    </a:clrScheme>
    <a:fontScheme name="TrustOps AI Stat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TrustOps AI State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Montserrat
Copyright 2024 The Montserrat.Git Project Authors (https://github.com/JulietaUla/Montserrat.git)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2026-10-21T11:56:08Z</dcterms:created>
  <dcterms:modified xsi:type="dcterms:W3CDTF">2026-10-21T11:56:08Z</dcterms:modified>
</cp:coreProperties>
</file>